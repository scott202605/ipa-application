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embeddedFontLst>
    <p:embeddedFont>
      <p:font typeface="Microsoft YaHei" panose="020B0503020204020204" pitchFamily="34" charset="-122"/>
      <p:regular r:id="rId52"/>
      <p:bold r:id="rId53"/>
    </p:embeddedFont>
    <p:embeddedFont>
      <p:font typeface="Lora SemiBold" panose="02010600030101010101" charset="0"/>
      <p:regular r:id="rId54"/>
      <p:bold r:id="rId55"/>
      <p:italic r:id="rId56"/>
      <p:boldItalic r:id="rId57"/>
    </p:embeddedFont>
    <p:embeddedFont>
      <p:font typeface="Roboto" panose="02000000000000000000" pitchFamily="2" charset="0"/>
      <p:regular r:id="rId58"/>
      <p:bold r:id="rId59"/>
      <p:italic r:id="rId60"/>
      <p:boldItalic r:id="rId61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C96869F-73F6-324C-4F35-A163C1FCB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910BB1EE-574E-DF08-D306-053F2E8785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F0F8A2-8F50-868B-357E-A284A45FE8F9}"/>
              </a:ext>
            </a:extLst>
          </p:cNvPr>
          <p:cNvSpPr txBox="1"/>
          <p:nvPr/>
        </p:nvSpPr>
        <p:spPr>
          <a:xfrm>
            <a:off x="685800" y="609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TECHNICAL BUSINESS REVIEW · 2026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F1EBDC-09D8-EE55-7915-BE6EA3598F4B}"/>
              </a:ext>
            </a:extLst>
          </p:cNvPr>
          <p:cNvSpPr txBox="1"/>
          <p:nvPr/>
        </p:nvSpPr>
        <p:spPr>
          <a:xfrm>
            <a:off x="685800" y="1498599"/>
            <a:ext cx="9144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sv-SE" altLang="zh-CN" sz="3600" b="1">
                <a:solidFill>
                  <a:srgbClr val="2457D6"/>
                </a:solidFill>
                <a:latin typeface="Microsoft YaHei" panose="020B0503020204020204" pitchFamily="34" charset="-122"/>
              </a:rPr>
              <a:t>IPAd SDK </a:t>
            </a:r>
            <a:r>
              <a:rPr lang="zh-CN" altLang="sv-SE" sz="3600" b="1">
                <a:solidFill>
                  <a:srgbClr val="2457D6"/>
                </a:solidFill>
                <a:latin typeface="Microsoft YaHei" panose="020B0503020204020204" pitchFamily="34" charset="-122"/>
              </a:rPr>
              <a:t>与 </a:t>
            </a:r>
            <a:r>
              <a:rPr lang="sv-SE" altLang="zh-CN" sz="3600" b="1">
                <a:solidFill>
                  <a:srgbClr val="2457D6"/>
                </a:solidFill>
                <a:latin typeface="Microsoft YaHei" panose="020B0503020204020204" pitchFamily="34" charset="-122"/>
              </a:rPr>
              <a:t>IPAd Manager</a:t>
            </a:r>
            <a:endParaRPr lang="zh-CN" altLang="en-US" sz="36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9DB5B6-74E6-D8A0-A272-3869DE39BA5A}"/>
              </a:ext>
            </a:extLst>
          </p:cNvPr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ABE2E30-2FED-3C03-DC7D-CF676589F790}"/>
              </a:ext>
            </a:extLst>
          </p:cNvPr>
          <p:cNvSpPr txBox="1"/>
          <p:nvPr/>
        </p:nvSpPr>
        <p:spPr>
          <a:xfrm>
            <a:off x="685800" y="2997199"/>
            <a:ext cx="9906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14171A"/>
                </a:solidFill>
                <a:latin typeface="Microsoft YaHei" panose="020B0503020204020204" pitchFamily="34" charset="-122"/>
              </a:rPr>
              <a:t>功能能力、接口调用、分层架构、兼容性与一键部署全景说明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DABB0E-8BBB-494D-363C-DAAEA95F3D8A}"/>
              </a:ext>
            </a:extLst>
          </p:cNvPr>
          <p:cNvSpPr txBox="1"/>
          <p:nvPr/>
        </p:nvSpPr>
        <p:spPr>
          <a:xfrm>
            <a:off x="685800" y="5740399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基于当前仓库代码与文档核验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C0304C-247C-6A04-199C-70F989371809}"/>
              </a:ext>
            </a:extLst>
          </p:cNvPr>
          <p:cNvSpPr txBox="1"/>
          <p:nvPr/>
        </p:nvSpPr>
        <p:spPr>
          <a:xfrm>
            <a:off x="9017000" y="5740399"/>
            <a:ext cx="2489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BFEDEB56-563B-09EC-6A28-52F71292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0C4E1F-B29E-F927-353D-E1AFACD9DFB3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导航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6E7B36-384D-88C2-771F-268446578E45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一套母版，支持三类受众按需裁剪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CB3DC39-7306-D81E-FDDF-26B69168EE35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CBBB54F-AE17-8DDD-6D72-0EB735DDBAFC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4EEEC2-B088-9BB9-8A6A-B91D5B25FE65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02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240050B-026E-DC73-A502-413373B3BDD3}"/>
              </a:ext>
            </a:extLst>
          </p:cNvPr>
          <p:cNvSpPr/>
          <p:nvPr/>
        </p:nvSpPr>
        <p:spPr>
          <a:xfrm>
            <a:off x="685800" y="1803400"/>
            <a:ext cx="5029200" cy="990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18CC8C-2FE0-380E-2B44-B472ABEC274E}"/>
              </a:ext>
            </a:extLst>
          </p:cNvPr>
          <p:cNvSpPr txBox="1"/>
          <p:nvPr/>
        </p:nvSpPr>
        <p:spPr>
          <a:xfrm>
            <a:off x="889000" y="2006599"/>
            <a:ext cx="609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457D6"/>
                </a:solidFill>
                <a:latin typeface="Microsoft YaHei" panose="020B0503020204020204" pitchFamily="34" charset="-122"/>
              </a:rPr>
              <a:t>01</a:t>
            </a:r>
            <a:endParaRPr lang="zh-CN" altLang="en-US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8EACBA-F887-70F7-1D91-F4434DD751B5}"/>
              </a:ext>
            </a:extLst>
          </p:cNvPr>
          <p:cNvSpPr txBox="1"/>
          <p:nvPr/>
        </p:nvSpPr>
        <p:spPr>
          <a:xfrm>
            <a:off x="1600200" y="2006599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产品定位与端到端全景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4814AA3-7FF1-F11C-D5FA-AE4CBCE63439}"/>
              </a:ext>
            </a:extLst>
          </p:cNvPr>
          <p:cNvSpPr/>
          <p:nvPr/>
        </p:nvSpPr>
        <p:spPr>
          <a:xfrm>
            <a:off x="6096000" y="1803400"/>
            <a:ext cx="5029200" cy="990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D5CB51-FFB0-37F1-D5DB-638E5070C363}"/>
              </a:ext>
            </a:extLst>
          </p:cNvPr>
          <p:cNvSpPr txBox="1"/>
          <p:nvPr/>
        </p:nvSpPr>
        <p:spPr>
          <a:xfrm>
            <a:off x="6299200" y="2006599"/>
            <a:ext cx="609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C6013B-BF6F-DCB9-231F-3A194A546789}"/>
              </a:ext>
            </a:extLst>
          </p:cNvPr>
          <p:cNvSpPr txBox="1"/>
          <p:nvPr/>
        </p:nvSpPr>
        <p:spPr>
          <a:xfrm>
            <a:off x="7010400" y="2006599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IPAd SDK </a:t>
            </a:r>
            <a:r>
              <a:rPr lang="zh-CN" altLang="en-US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能力与公开接口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C0D8B2E-39C7-145F-C21B-4B9FE2078EED}"/>
              </a:ext>
            </a:extLst>
          </p:cNvPr>
          <p:cNvSpPr/>
          <p:nvPr/>
        </p:nvSpPr>
        <p:spPr>
          <a:xfrm>
            <a:off x="685800" y="3175000"/>
            <a:ext cx="5029200" cy="990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5C3F29-EFF2-D803-B53F-DA8956DD7C82}"/>
              </a:ext>
            </a:extLst>
          </p:cNvPr>
          <p:cNvSpPr txBox="1"/>
          <p:nvPr/>
        </p:nvSpPr>
        <p:spPr>
          <a:xfrm>
            <a:off x="889000" y="3378199"/>
            <a:ext cx="609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8C60F3-937E-CE6E-84DE-CE28F5240338}"/>
              </a:ext>
            </a:extLst>
          </p:cNvPr>
          <p:cNvSpPr txBox="1"/>
          <p:nvPr/>
        </p:nvSpPr>
        <p:spPr>
          <a:xfrm>
            <a:off x="1600200" y="3378199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IPAd Manager </a:t>
            </a:r>
            <a:r>
              <a:rPr lang="zh-CN" altLang="en-US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分层实现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86FC5B9-5319-AE2D-FC47-4C6C698CD597}"/>
              </a:ext>
            </a:extLst>
          </p:cNvPr>
          <p:cNvSpPr/>
          <p:nvPr/>
        </p:nvSpPr>
        <p:spPr>
          <a:xfrm>
            <a:off x="6096000" y="3175000"/>
            <a:ext cx="5029200" cy="990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2B30F2-80F4-D5C4-0D63-96D8660D5156}"/>
              </a:ext>
            </a:extLst>
          </p:cNvPr>
          <p:cNvSpPr txBox="1"/>
          <p:nvPr/>
        </p:nvSpPr>
        <p:spPr>
          <a:xfrm>
            <a:off x="6299200" y="3378199"/>
            <a:ext cx="609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6EB96F-C875-1F11-A0C0-70047AD95A56}"/>
              </a:ext>
            </a:extLst>
          </p:cNvPr>
          <p:cNvSpPr txBox="1"/>
          <p:nvPr/>
        </p:nvSpPr>
        <p:spPr>
          <a:xfrm>
            <a:off x="7010400" y="3378199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兼容性、部署与使用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DB0D6DB-DB95-603C-CF48-A7779EB17CB4}"/>
              </a:ext>
            </a:extLst>
          </p:cNvPr>
          <p:cNvSpPr/>
          <p:nvPr/>
        </p:nvSpPr>
        <p:spPr>
          <a:xfrm>
            <a:off x="685800" y="4546600"/>
            <a:ext cx="5029200" cy="990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729CA3-CEB3-7971-BDA0-327D78FF64D6}"/>
              </a:ext>
            </a:extLst>
          </p:cNvPr>
          <p:cNvSpPr txBox="1"/>
          <p:nvPr/>
        </p:nvSpPr>
        <p:spPr>
          <a:xfrm>
            <a:off x="889000" y="4749799"/>
            <a:ext cx="609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D786E5-B67D-1CB0-7BB5-EAC0FA846134}"/>
              </a:ext>
            </a:extLst>
          </p:cNvPr>
          <p:cNvSpPr txBox="1"/>
          <p:nvPr/>
        </p:nvSpPr>
        <p:spPr>
          <a:xfrm>
            <a:off x="1600200" y="4749799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当前状态、风险与路线图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9F00171-E40D-A592-66ED-2D30DF64CFF6}"/>
              </a:ext>
            </a:extLst>
          </p:cNvPr>
          <p:cNvSpPr/>
          <p:nvPr/>
        </p:nvSpPr>
        <p:spPr>
          <a:xfrm>
            <a:off x="6096000" y="4546600"/>
            <a:ext cx="5029200" cy="990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91C7CD-3C00-CCB3-8DC9-4C8E91DEC39D}"/>
              </a:ext>
            </a:extLst>
          </p:cNvPr>
          <p:cNvSpPr txBox="1"/>
          <p:nvPr/>
        </p:nvSpPr>
        <p:spPr>
          <a:xfrm>
            <a:off x="6299200" y="4749799"/>
            <a:ext cx="609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80DA43-167B-2968-99EB-50AE34C0C9AE}"/>
              </a:ext>
            </a:extLst>
          </p:cNvPr>
          <p:cNvSpPr txBox="1"/>
          <p:nvPr/>
        </p:nvSpPr>
        <p:spPr>
          <a:xfrm>
            <a:off x="7010400" y="4749799"/>
            <a:ext cx="381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API</a:t>
            </a:r>
            <a:r>
              <a:rPr lang="zh-CN" altLang="en-US" sz="1400" b="1">
                <a:solidFill>
                  <a:srgbClr val="14171A"/>
                </a:solidFill>
                <a:latin typeface="Microsoft YaHei" panose="020B0503020204020204" pitchFamily="34" charset="-122"/>
              </a:rPr>
              <a:t>、配置与构建附录</a:t>
            </a:r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80AF348-3040-2F52-0770-2EE13D61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49E328-1E78-CC94-4A29-263A93AAEFC4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执行摘要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D40FEB-2248-6F31-A5E7-2EF3EEFE6E00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IPAd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底层协议能力组织成可集成、可操作的桌面管理链路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D21C127-14D2-23CB-0206-8D2140D6BBC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DFEBBF0-0B13-D8EE-E9A8-DF6671E435C8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F01A60-4A66-5714-8530-7CC82E9085E7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03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66ACFE-D7C8-8FFC-5834-6F3B1F71CD6A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当前仓库已形成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SDK + GTK Manager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的基本产品形态，但“接口存在、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已封装、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已接入”并非同一成熟度。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DDE89EA-99A4-E52C-CEB3-C90D3FEF3929}"/>
              </a:ext>
            </a:extLst>
          </p:cNvPr>
          <p:cNvSpPr/>
          <p:nvPr/>
        </p:nvSpPr>
        <p:spPr>
          <a:xfrm>
            <a:off x="6858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F45186-4985-CB7E-6974-25F9B73904D6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13F33A-0CF1-572E-AEE5-E119872D0FA3}"/>
              </a:ext>
            </a:extLst>
          </p:cNvPr>
          <p:cNvSpPr txBox="1"/>
          <p:nvPr/>
        </p:nvSpPr>
        <p:spPr>
          <a:xfrm>
            <a:off x="8890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核心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B4A5D-CA7A-D1BE-93EB-05D507EFAEE1}"/>
              </a:ext>
            </a:extLst>
          </p:cNvPr>
          <p:cNvSpPr txBox="1"/>
          <p:nvPr/>
        </p:nvSpPr>
        <p:spPr>
          <a:xfrm>
            <a:off x="8890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覆盖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信息、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查询、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配置、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、应急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、通知与多协议连接。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1AD8E46-959E-F62A-20BF-EBA4894FAC37}"/>
              </a:ext>
            </a:extLst>
          </p:cNvPr>
          <p:cNvSpPr/>
          <p:nvPr/>
        </p:nvSpPr>
        <p:spPr>
          <a:xfrm>
            <a:off x="61722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215FAC-3A6F-F0DD-FF99-F70BB293A894}"/>
              </a:ext>
            </a:extLst>
          </p:cNvPr>
          <p:cNvSpPr/>
          <p:nvPr/>
        </p:nvSpPr>
        <p:spPr>
          <a:xfrm>
            <a:off x="61722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A6DDFA-4421-8D09-5997-531D5DB657B5}"/>
              </a:ext>
            </a:extLst>
          </p:cNvPr>
          <p:cNvSpPr txBox="1"/>
          <p:nvPr/>
        </p:nvSpPr>
        <p:spPr>
          <a:xfrm>
            <a:off x="63754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价值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46E9FCE5-B9D0-0B5C-AEAD-030AF80E43A0}"/>
              </a:ext>
            </a:extLst>
          </p:cNvPr>
          <p:cNvSpPr txBox="1"/>
          <p:nvPr/>
        </p:nvSpPr>
        <p:spPr>
          <a:xfrm>
            <a:off x="63754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通过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GTK GUI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、业务逻辑和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降低直接调用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ES10/APDU/AT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的集成门槛。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18ADEF8F-6E63-05EC-1513-9EABEC0FA5DD}"/>
              </a:ext>
            </a:extLst>
          </p:cNvPr>
          <p:cNvSpPr/>
          <p:nvPr/>
        </p:nvSpPr>
        <p:spPr>
          <a:xfrm>
            <a:off x="6858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67288528-2638-0AAE-EC19-8F08D0D5B71D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6C01FF8E-B908-1B3F-1473-FC5A8706275D}"/>
              </a:ext>
            </a:extLst>
          </p:cNvPr>
          <p:cNvSpPr txBox="1"/>
          <p:nvPr/>
        </p:nvSpPr>
        <p:spPr>
          <a:xfrm>
            <a:off x="8890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当前边界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C0DC08CF-4B8B-9FC6-CF4A-5BD2DD51677C}"/>
              </a:ext>
            </a:extLst>
          </p:cNvPr>
          <p:cNvSpPr txBox="1"/>
          <p:nvPr/>
        </p:nvSpPr>
        <p:spPr>
          <a:xfrm>
            <a:off x="8890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下载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启停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删除仍为占位；部分通信和通知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尚未形成完整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参数链路。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20EF7994-D440-FD55-C9BC-AD765CF64F43}"/>
              </a:ext>
            </a:extLst>
          </p:cNvPr>
          <p:cNvSpPr/>
          <p:nvPr/>
        </p:nvSpPr>
        <p:spPr>
          <a:xfrm>
            <a:off x="61722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51B8EB76-12A4-C0C8-0D3A-1725D9D01ACD}"/>
              </a:ext>
            </a:extLst>
          </p:cNvPr>
          <p:cNvSpPr/>
          <p:nvPr/>
        </p:nvSpPr>
        <p:spPr>
          <a:xfrm>
            <a:off x="61722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4771052B-23A8-294A-62D4-228DC69D4664}"/>
              </a:ext>
            </a:extLst>
          </p:cNvPr>
          <p:cNvSpPr txBox="1"/>
          <p:nvPr/>
        </p:nvSpPr>
        <p:spPr>
          <a:xfrm>
            <a:off x="63754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部署形态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5D556BBC-A00E-3365-0F45-A4F3ED5B2DE9}"/>
              </a:ext>
            </a:extLst>
          </p:cNvPr>
          <p:cNvSpPr txBox="1"/>
          <p:nvPr/>
        </p:nvSpPr>
        <p:spPr>
          <a:xfrm>
            <a:off x="63754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Linux/Ubuntu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构建，可在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Windows + WSL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Ubuntu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发行版中完成依赖安装、编译和运行。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E4C80EDE-FF24-5F95-90D1-99EE62987F4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8D454C4F-4190-7790-EAD8-3E65EBC1D70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29F187B3-060E-FE7A-0366-993B3D8B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43B0552E-32AB-1990-D1A7-88E8213CF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A640D3-412F-2877-3BA6-CEA8B8657C93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产品全景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1BE79D-6D0A-F999-B8C4-23235989952C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外部应用通过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两条路径进入同一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能力栈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2796235-0C3B-37ED-1280-954E4764425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E632812-80F1-2B2A-E620-51195869FCDE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A1D998-00D5-4454-A698-2DA4B8D59A8B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04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BD387A-892A-E365-9B95-7AEAE1157B8C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上层入口不同，最终都收敛到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SDK Core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ES10/TLV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和硬件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网络适配层。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31A8DD3-9131-FEE9-14D3-3B3159CA6C63}"/>
              </a:ext>
            </a:extLst>
          </p:cNvPr>
          <p:cNvSpPr/>
          <p:nvPr/>
        </p:nvSpPr>
        <p:spPr>
          <a:xfrm>
            <a:off x="685800" y="2895600"/>
            <a:ext cx="1612900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4CC61B-9E05-C77B-F331-26D5E41214BA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70E37C7-D393-7186-5E00-D0DC18AFC063}"/>
              </a:ext>
            </a:extLst>
          </p:cNvPr>
          <p:cNvSpPr txBox="1"/>
          <p:nvPr/>
        </p:nvSpPr>
        <p:spPr>
          <a:xfrm>
            <a:off x="812800" y="3378199"/>
            <a:ext cx="1358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操作员 </a:t>
            </a:r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外部系统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79359FE-CBC6-C422-62D9-3BD54E087801}"/>
              </a:ext>
            </a:extLst>
          </p:cNvPr>
          <p:cNvCxnSpPr/>
          <p:nvPr/>
        </p:nvCxnSpPr>
        <p:spPr>
          <a:xfrm>
            <a:off x="2324100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6F81488-9ED3-87A8-77A2-D2171968AFEA}"/>
              </a:ext>
            </a:extLst>
          </p:cNvPr>
          <p:cNvSpPr/>
          <p:nvPr/>
        </p:nvSpPr>
        <p:spPr>
          <a:xfrm>
            <a:off x="2527300" y="2895600"/>
            <a:ext cx="1612900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C56245-1E1A-1FC3-D5C9-713DB27640CB}"/>
              </a:ext>
            </a:extLst>
          </p:cNvPr>
          <p:cNvSpPr txBox="1"/>
          <p:nvPr/>
        </p:nvSpPr>
        <p:spPr>
          <a:xfrm>
            <a:off x="26543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654EA81-7070-7D16-D443-B091B6C8938C}"/>
              </a:ext>
            </a:extLst>
          </p:cNvPr>
          <p:cNvSpPr txBox="1"/>
          <p:nvPr/>
        </p:nvSpPr>
        <p:spPr>
          <a:xfrm>
            <a:off x="2654300" y="3378199"/>
            <a:ext cx="1358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IPAd Manager GUI
</a:t>
            </a:r>
            <a:r>
              <a:rPr lang="zh-CN" altLang="en-US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或直接 </a:t>
            </a:r>
            <a:r>
              <a:rPr lang="en-US" altLang="zh-CN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C API</a:t>
            </a:r>
            <a:endParaRPr lang="zh-CN" altLang="en-US" sz="11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FD4BD5E-B902-4985-680D-D4F91AA726B3}"/>
              </a:ext>
            </a:extLst>
          </p:cNvPr>
          <p:cNvCxnSpPr/>
          <p:nvPr/>
        </p:nvCxnSpPr>
        <p:spPr>
          <a:xfrm>
            <a:off x="4165600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1E9DDB4-3F42-B7B9-7BEF-75443145E1E5}"/>
              </a:ext>
            </a:extLst>
          </p:cNvPr>
          <p:cNvSpPr/>
          <p:nvPr/>
        </p:nvSpPr>
        <p:spPr>
          <a:xfrm>
            <a:off x="4368800" y="2895600"/>
            <a:ext cx="1612900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DC3F26-DE0F-E1E7-D0C1-076F26D6BD31}"/>
              </a:ext>
            </a:extLst>
          </p:cNvPr>
          <p:cNvSpPr txBox="1"/>
          <p:nvPr/>
        </p:nvSpPr>
        <p:spPr>
          <a:xfrm>
            <a:off x="4495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FAA09B5-A4F5-9FA6-AE4F-B72F749E9D0C}"/>
              </a:ext>
            </a:extLst>
          </p:cNvPr>
          <p:cNvSpPr txBox="1"/>
          <p:nvPr/>
        </p:nvSpPr>
        <p:spPr>
          <a:xfrm>
            <a:off x="4495800" y="3378199"/>
            <a:ext cx="1358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SDK Wrapper / ipa_*</a:t>
            </a:r>
            <a:endParaRPr lang="zh-CN" altLang="en-US" sz="11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2B8252E-A1F9-5A15-BB44-807E68BA3DA9}"/>
              </a:ext>
            </a:extLst>
          </p:cNvPr>
          <p:cNvCxnSpPr/>
          <p:nvPr/>
        </p:nvCxnSpPr>
        <p:spPr>
          <a:xfrm>
            <a:off x="6007100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BB6CFDB-5707-502B-C2A6-8B30F3938A5C}"/>
              </a:ext>
            </a:extLst>
          </p:cNvPr>
          <p:cNvSpPr/>
          <p:nvPr/>
        </p:nvSpPr>
        <p:spPr>
          <a:xfrm>
            <a:off x="6210300" y="2895600"/>
            <a:ext cx="1612900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1BE7494-FFCA-1D1B-D645-8C74AE340FFB}"/>
              </a:ext>
            </a:extLst>
          </p:cNvPr>
          <p:cNvSpPr txBox="1"/>
          <p:nvPr/>
        </p:nvSpPr>
        <p:spPr>
          <a:xfrm>
            <a:off x="63373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D84C31B-12D1-7E04-D907-D8DD08D84EFB}"/>
              </a:ext>
            </a:extLst>
          </p:cNvPr>
          <p:cNvSpPr txBox="1"/>
          <p:nvPr/>
        </p:nvSpPr>
        <p:spPr>
          <a:xfrm>
            <a:off x="6337300" y="3378199"/>
            <a:ext cx="1358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SDK Core + ES10/TLV</a:t>
            </a:r>
            <a:endParaRPr lang="zh-CN" altLang="en-US" sz="11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1C5E002-C393-D62F-0343-21DF6893D1EC}"/>
              </a:ext>
            </a:extLst>
          </p:cNvPr>
          <p:cNvCxnSpPr/>
          <p:nvPr/>
        </p:nvCxnSpPr>
        <p:spPr>
          <a:xfrm>
            <a:off x="7848600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81FC6CE-37E3-7B41-ECD7-9FB489691B21}"/>
              </a:ext>
            </a:extLst>
          </p:cNvPr>
          <p:cNvSpPr/>
          <p:nvPr/>
        </p:nvSpPr>
        <p:spPr>
          <a:xfrm>
            <a:off x="8051800" y="2895600"/>
            <a:ext cx="1612900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9292A23-8D33-160B-4839-639D97FFE85E}"/>
              </a:ext>
            </a:extLst>
          </p:cNvPr>
          <p:cNvSpPr txBox="1"/>
          <p:nvPr/>
        </p:nvSpPr>
        <p:spPr>
          <a:xfrm>
            <a:off x="8178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152AAB4-ADB8-CC46-906E-0E6DBF82C4DB}"/>
              </a:ext>
            </a:extLst>
          </p:cNvPr>
          <p:cNvSpPr txBox="1"/>
          <p:nvPr/>
        </p:nvSpPr>
        <p:spPr>
          <a:xfrm>
            <a:off x="8178800" y="3378199"/>
            <a:ext cx="1358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AT / APDU / </a:t>
            </a:r>
            <a:r>
              <a:rPr lang="zh-CN" altLang="en-US" sz="1100" b="1">
                <a:solidFill>
                  <a:srgbClr val="14171A"/>
                </a:solidFill>
                <a:latin typeface="Microsoft YaHei" panose="020B0503020204020204" pitchFamily="34" charset="-122"/>
              </a:rPr>
              <a:t>网络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F5B8683-10FC-0B81-74DF-B5C35FB24D1C}"/>
              </a:ext>
            </a:extLst>
          </p:cNvPr>
          <p:cNvCxnSpPr/>
          <p:nvPr/>
        </p:nvCxnSpPr>
        <p:spPr>
          <a:xfrm>
            <a:off x="9690100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FF5A8598-C023-38CA-45B2-94C4C98B2756}"/>
              </a:ext>
            </a:extLst>
          </p:cNvPr>
          <p:cNvSpPr/>
          <p:nvPr/>
        </p:nvSpPr>
        <p:spPr>
          <a:xfrm>
            <a:off x="9893300" y="2895600"/>
            <a:ext cx="1612900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4CEFC76-C969-C776-2CD3-5530C761E21C}"/>
              </a:ext>
            </a:extLst>
          </p:cNvPr>
          <p:cNvSpPr txBox="1"/>
          <p:nvPr/>
        </p:nvSpPr>
        <p:spPr>
          <a:xfrm>
            <a:off x="100203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704BFD2-6E29-EEB9-F7C5-50700B7A4E24}"/>
              </a:ext>
            </a:extLst>
          </p:cNvPr>
          <p:cNvSpPr txBox="1"/>
          <p:nvPr/>
        </p:nvSpPr>
        <p:spPr>
          <a:xfrm>
            <a:off x="10020300" y="3378199"/>
            <a:ext cx="1358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eUICC · eIM · SM-DP+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119AB8C-06EA-1DCC-A938-B8D30747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F1A241-BA7E-45A9-8409-D2146C03F707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产品全景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4A3041-5FDB-32A2-9A8E-B5AE68249BB4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六类场景构成当前产品能力边界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0A1B532-87E7-EA80-62A6-34571978453C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9CD84D4-5319-37EB-4400-DAAB5544AA69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26AFBE-E854-E648-6CDD-FBF212345653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05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1AA7AE-918B-1A26-64E5-F5AC4789919A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能力覆盖“查询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控制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通信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通知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运维”，但并非所有入口都已达到同等可用程度。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20499A3-5975-7A43-2E97-FCD18450B41F}"/>
              </a:ext>
            </a:extLst>
          </p:cNvPr>
          <p:cNvSpPr/>
          <p:nvPr/>
        </p:nvSpPr>
        <p:spPr>
          <a:xfrm>
            <a:off x="6858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DE6559-6314-F31F-FB7E-8836A1A26559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F0386A-559D-2244-4AD0-DED3ABCF4D10}"/>
              </a:ext>
            </a:extLst>
          </p:cNvPr>
          <p:cNvSpPr txBox="1"/>
          <p:nvPr/>
        </p:nvSpPr>
        <p:spPr>
          <a:xfrm>
            <a:off x="8890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设备识别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6CDBA45-74ED-87EF-808C-AE4D2D645F7E}"/>
              </a:ext>
            </a:extLst>
          </p:cNvPr>
          <p:cNvSpPr txBox="1"/>
          <p:nvPr/>
        </p:nvSpPr>
        <p:spPr>
          <a:xfrm>
            <a:off x="8890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EID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EuiccInfo1/2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、证书与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PKID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AC029DD-48EF-6E9E-31DB-BA6C68ADFC5E}"/>
              </a:ext>
            </a:extLst>
          </p:cNvPr>
          <p:cNvSpPr/>
          <p:nvPr/>
        </p:nvSpPr>
        <p:spPr>
          <a:xfrm>
            <a:off x="43434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CA3247-5483-F306-EC2B-A3D1D6F3913C}"/>
              </a:ext>
            </a:extLst>
          </p:cNvPr>
          <p:cNvSpPr/>
          <p:nvPr/>
        </p:nvSpPr>
        <p:spPr>
          <a:xfrm>
            <a:off x="43434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DB45637-C780-B23D-57FE-52B04F36B9C6}"/>
              </a:ext>
            </a:extLst>
          </p:cNvPr>
          <p:cNvSpPr txBox="1"/>
          <p:nvPr/>
        </p:nvSpPr>
        <p:spPr>
          <a:xfrm>
            <a:off x="45466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盘点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C31F0500-4055-461C-74A8-1302A76F87E4}"/>
              </a:ext>
            </a:extLst>
          </p:cNvPr>
          <p:cNvSpPr txBox="1"/>
          <p:nvPr/>
        </p:nvSpPr>
        <p:spPr>
          <a:xfrm>
            <a:off x="45466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获取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列表、状态与原始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TLV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D14ABB34-CEA2-A7FF-D28E-61243C100F40}"/>
              </a:ext>
            </a:extLst>
          </p:cNvPr>
          <p:cNvSpPr/>
          <p:nvPr/>
        </p:nvSpPr>
        <p:spPr>
          <a:xfrm>
            <a:off x="80010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31C950E8-5EE7-8A66-A6E6-C3388EE5FB86}"/>
              </a:ext>
            </a:extLst>
          </p:cNvPr>
          <p:cNvSpPr/>
          <p:nvPr/>
        </p:nvSpPr>
        <p:spPr>
          <a:xfrm>
            <a:off x="80010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6DAD6722-E63E-1DC9-62E8-8727215D0062}"/>
              </a:ext>
            </a:extLst>
          </p:cNvPr>
          <p:cNvSpPr txBox="1"/>
          <p:nvPr/>
        </p:nvSpPr>
        <p:spPr>
          <a:xfrm>
            <a:off x="82042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策略控制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085DEF0D-6D85-CF50-269D-FC356B7439B0}"/>
              </a:ext>
            </a:extLst>
          </p:cNvPr>
          <p:cNvSpPr txBox="1"/>
          <p:nvPr/>
        </p:nvSpPr>
        <p:spPr>
          <a:xfrm>
            <a:off x="82042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Return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Rollback Result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、应急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F004EDC0-B9AE-4167-42CE-C7ACA8B6C95A}"/>
              </a:ext>
            </a:extLst>
          </p:cNvPr>
          <p:cNvSpPr/>
          <p:nvPr/>
        </p:nvSpPr>
        <p:spPr>
          <a:xfrm>
            <a:off x="6858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F73EB1F0-8124-1E7C-E22B-84D170539FB7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5D5C5C56-341D-7DD7-6152-9C4E249E86BC}"/>
              </a:ext>
            </a:extLst>
          </p:cNvPr>
          <p:cNvSpPr txBox="1"/>
          <p:nvPr/>
        </p:nvSpPr>
        <p:spPr>
          <a:xfrm>
            <a:off x="8890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通知运维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DC923181-A704-9388-F829-FAFC232954BA}"/>
              </a:ext>
            </a:extLst>
          </p:cNvPr>
          <p:cNvSpPr txBox="1"/>
          <p:nvPr/>
        </p:nvSpPr>
        <p:spPr>
          <a:xfrm>
            <a:off x="8890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初始化、全部投递、单条投递与删除。</a:t>
            </a:r>
          </a:p>
        </p:txBody>
      </p:sp>
      <p:sp>
        <p:nvSpPr>
          <p:cNvPr id="521" name="矩形: 圆角 520">
            <a:extLst>
              <a:ext uri="{FF2B5EF4-FFF2-40B4-BE49-F238E27FC236}">
                <a16:creationId xmlns:a16="http://schemas.microsoft.com/office/drawing/2014/main" id="{090DDCBD-AF21-6AFA-7B8E-093B2F9DAA7E}"/>
              </a:ext>
            </a:extLst>
          </p:cNvPr>
          <p:cNvSpPr/>
          <p:nvPr/>
        </p:nvSpPr>
        <p:spPr>
          <a:xfrm>
            <a:off x="43434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FFBF29FA-2A4C-47B0-3B07-EB6F5FD1C5C5}"/>
              </a:ext>
            </a:extLst>
          </p:cNvPr>
          <p:cNvSpPr/>
          <p:nvPr/>
        </p:nvSpPr>
        <p:spPr>
          <a:xfrm>
            <a:off x="43434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3C705DD1-9186-A635-3C9E-0C96820F9B60}"/>
              </a:ext>
            </a:extLst>
          </p:cNvPr>
          <p:cNvSpPr txBox="1"/>
          <p:nvPr/>
        </p:nvSpPr>
        <p:spPr>
          <a:xfrm>
            <a:off x="45466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通信</a:t>
            </a: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5C9E7657-CF61-C9C4-9691-000A70193D01}"/>
              </a:ext>
            </a:extLst>
          </p:cNvPr>
          <p:cNvSpPr txBox="1"/>
          <p:nvPr/>
        </p:nvSpPr>
        <p:spPr>
          <a:xfrm>
            <a:off x="45466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MQTT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LwM2M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HTTP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服务连接和停止。</a:t>
            </a:r>
          </a:p>
        </p:txBody>
      </p:sp>
      <p:sp>
        <p:nvSpPr>
          <p:cNvPr id="525" name="矩形: 圆角 524">
            <a:extLst>
              <a:ext uri="{FF2B5EF4-FFF2-40B4-BE49-F238E27FC236}">
                <a16:creationId xmlns:a16="http://schemas.microsoft.com/office/drawing/2014/main" id="{1986B2C2-6C1B-44C3-6495-5A37F2A83043}"/>
              </a:ext>
            </a:extLst>
          </p:cNvPr>
          <p:cNvSpPr/>
          <p:nvPr/>
        </p:nvSpPr>
        <p:spPr>
          <a:xfrm>
            <a:off x="80010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BBFABE50-AB3F-9A99-8B71-13E5C6B4A582}"/>
              </a:ext>
            </a:extLst>
          </p:cNvPr>
          <p:cNvSpPr/>
          <p:nvPr/>
        </p:nvSpPr>
        <p:spPr>
          <a:xfrm>
            <a:off x="80010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4C6F6684-664E-408A-A038-57216E144AE6}"/>
              </a:ext>
            </a:extLst>
          </p:cNvPr>
          <p:cNvSpPr txBox="1"/>
          <p:nvPr/>
        </p:nvSpPr>
        <p:spPr>
          <a:xfrm>
            <a:off x="82042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本地配置</a:t>
            </a: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E82ACBCE-C3DA-010E-71F6-6D4E104DCBC0}"/>
              </a:ext>
            </a:extLst>
          </p:cNvPr>
          <p:cNvSpPr txBox="1"/>
          <p:nvPr/>
        </p:nvSpPr>
        <p:spPr>
          <a:xfrm>
            <a:off x="82042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默认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SM-DP+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、初始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eIM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、内存重置、即时启用配置。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8CCCF1BF-F8F5-2425-EB49-4309B5A34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BCA1C526-9F65-19F6-83D0-EAA2BC89B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793732-CAF2-1148-6EBB-EBDE586AE095}"/>
              </a:ext>
            </a:extLst>
          </p:cNvPr>
          <p:cNvSpPr txBox="1"/>
          <p:nvPr/>
        </p:nvSpPr>
        <p:spPr>
          <a:xfrm>
            <a:off x="685800" y="736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SDK</a:t>
            </a:r>
            <a:endParaRPr lang="zh-CN" altLang="en-US" sz="10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4E7FA4-26C5-9101-9033-5A37D56A6F13}"/>
              </a:ext>
            </a:extLst>
          </p:cNvPr>
          <p:cNvSpPr txBox="1"/>
          <p:nvPr/>
        </p:nvSpPr>
        <p:spPr>
          <a:xfrm>
            <a:off x="685800" y="1879599"/>
            <a:ext cx="10414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第一部分｜</a:t>
            </a:r>
            <a:r>
              <a:rPr lang="en-US" altLang="zh-CN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IPAd SDK </a:t>
            </a:r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能力与接口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7E99504-29E8-9043-668C-A8FCC32FBF2B}"/>
              </a:ext>
            </a:extLst>
          </p:cNvPr>
          <p:cNvCxnSpPr/>
          <p:nvPr/>
        </p:nvCxnSpPr>
        <p:spPr>
          <a:xfrm>
            <a:off x="685800" y="30226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C61F16D-14D4-4127-C205-58AA70C8E145}"/>
              </a:ext>
            </a:extLst>
          </p:cNvPr>
          <p:cNvSpPr txBox="1"/>
          <p:nvPr/>
        </p:nvSpPr>
        <p:spPr>
          <a:xfrm>
            <a:off x="685800" y="3403599"/>
            <a:ext cx="9652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从公开 </a:t>
            </a:r>
            <a:r>
              <a:rPr lang="en-US" altLang="zh-CN" sz="1600">
                <a:solidFill>
                  <a:srgbClr val="14171A"/>
                </a:solidFill>
                <a:latin typeface="Microsoft YaHei" panose="020B0503020204020204" pitchFamily="34" charset="-122"/>
              </a:rPr>
              <a:t>API</a:t>
            </a:r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、生命周期和调用链理解外部集成方式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F6369C-BC9E-E6A4-0B59-850E80B1DFB3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D0F87D-418A-3CED-FFBB-CEA2C866626E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06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4FDD2CD-6209-3F21-0D0A-2217D71E8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AEB183-D800-7464-662F-0DF437B83040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能力地图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E4F00F-0117-A74B-5CC0-E3B75BBF8E58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能力可归纳为八个稳定的功能域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667EFA7-915E-8494-360E-2FF82F97F684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3908D30-3A30-C7EB-FDEE-45399D86187F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13055A-8243-AFA9-BA2A-249D1C71AA7C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07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FA1FCF-D7E8-F634-9EB9-2AB83805020C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能力域按调用目的组织；具体可用性还要结合构建选项、驱动与上层接入状态判断。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63C087F-3250-69C2-5990-580890F1639B}"/>
              </a:ext>
            </a:extLst>
          </p:cNvPr>
          <p:cNvSpPr/>
          <p:nvPr/>
        </p:nvSpPr>
        <p:spPr>
          <a:xfrm>
            <a:off x="6858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3C06A1-6099-DE84-BF09-F094DF9AF82B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113473-2961-8D59-284F-1F83DEB0C311}"/>
              </a:ext>
            </a:extLst>
          </p:cNvPr>
          <p:cNvSpPr txBox="1"/>
          <p:nvPr/>
        </p:nvSpPr>
        <p:spPr>
          <a:xfrm>
            <a:off x="8890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生命周期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4A33E56-2FC0-488E-C08A-ADECF3E09D9A}"/>
              </a:ext>
            </a:extLst>
          </p:cNvPr>
          <p:cNvSpPr txBox="1"/>
          <p:nvPr/>
        </p:nvSpPr>
        <p:spPr>
          <a:xfrm>
            <a:off x="8890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初始化、反初始化、事件回调、任务回调。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69CC85-44CF-05B4-AE5A-C1C727BE3386}"/>
              </a:ext>
            </a:extLst>
          </p:cNvPr>
          <p:cNvSpPr/>
          <p:nvPr/>
        </p:nvSpPr>
        <p:spPr>
          <a:xfrm>
            <a:off x="34290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131276-72A7-8EC2-BA34-0A3617E67AB3}"/>
              </a:ext>
            </a:extLst>
          </p:cNvPr>
          <p:cNvSpPr/>
          <p:nvPr/>
        </p:nvSpPr>
        <p:spPr>
          <a:xfrm>
            <a:off x="34290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FFD18A8-DED7-FA30-D8C7-7A4B001A08F1}"/>
              </a:ext>
            </a:extLst>
          </p:cNvPr>
          <p:cNvSpPr txBox="1"/>
          <p:nvPr/>
        </p:nvSpPr>
        <p:spPr>
          <a:xfrm>
            <a:off x="36322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信息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064D9195-AF1C-9FE6-4E57-454CF84B3216}"/>
              </a:ext>
            </a:extLst>
          </p:cNvPr>
          <p:cNvSpPr txBox="1"/>
          <p:nvPr/>
        </p:nvSpPr>
        <p:spPr>
          <a:xfrm>
            <a:off x="36322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EID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EuiccInfo1/2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、证书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/PKID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4DE0368E-548E-9B01-4D11-B084685750D3}"/>
              </a:ext>
            </a:extLst>
          </p:cNvPr>
          <p:cNvSpPr/>
          <p:nvPr/>
        </p:nvSpPr>
        <p:spPr>
          <a:xfrm>
            <a:off x="61722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97E5E28A-5BD6-9460-3382-FCB00E9D205A}"/>
              </a:ext>
            </a:extLst>
          </p:cNvPr>
          <p:cNvSpPr/>
          <p:nvPr/>
        </p:nvSpPr>
        <p:spPr>
          <a:xfrm>
            <a:off x="61722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87F5E5A5-C92E-0944-CA49-742251068D70}"/>
              </a:ext>
            </a:extLst>
          </p:cNvPr>
          <p:cNvSpPr txBox="1"/>
          <p:nvPr/>
        </p:nvSpPr>
        <p:spPr>
          <a:xfrm>
            <a:off x="63754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信息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B6A9B19D-8982-0A52-FF8A-59043E971901}"/>
              </a:ext>
            </a:extLst>
          </p:cNvPr>
          <p:cNvSpPr txBox="1"/>
          <p:nvPr/>
        </p:nvSpPr>
        <p:spPr>
          <a:xfrm>
            <a:off x="63754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列表、状态回调、原始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TLV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1EA4B67B-446E-DD22-4919-D459360D7E03}"/>
              </a:ext>
            </a:extLst>
          </p:cNvPr>
          <p:cNvSpPr/>
          <p:nvPr/>
        </p:nvSpPr>
        <p:spPr>
          <a:xfrm>
            <a:off x="89154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CBAF87B9-9251-DBA1-AD0D-5919E0B945FA}"/>
              </a:ext>
            </a:extLst>
          </p:cNvPr>
          <p:cNvSpPr/>
          <p:nvPr/>
        </p:nvSpPr>
        <p:spPr>
          <a:xfrm>
            <a:off x="89154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DDB3EE68-0746-BA90-09D7-5C8BB843953D}"/>
              </a:ext>
            </a:extLst>
          </p:cNvPr>
          <p:cNvSpPr txBox="1"/>
          <p:nvPr/>
        </p:nvSpPr>
        <p:spPr>
          <a:xfrm>
            <a:off x="91186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配置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DA682E0C-434E-735E-1829-FB1C42E4B4CC}"/>
              </a:ext>
            </a:extLst>
          </p:cNvPr>
          <p:cNvSpPr txBox="1"/>
          <p:nvPr/>
        </p:nvSpPr>
        <p:spPr>
          <a:xfrm>
            <a:off x="91186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读取与添加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eIM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、服务器地址配置。</a:t>
            </a:r>
          </a:p>
        </p:txBody>
      </p:sp>
      <p:sp>
        <p:nvSpPr>
          <p:cNvPr id="521" name="矩形: 圆角 520">
            <a:extLst>
              <a:ext uri="{FF2B5EF4-FFF2-40B4-BE49-F238E27FC236}">
                <a16:creationId xmlns:a16="http://schemas.microsoft.com/office/drawing/2014/main" id="{2D68E111-DD6D-F884-54BE-639CB0A016A7}"/>
              </a:ext>
            </a:extLst>
          </p:cNvPr>
          <p:cNvSpPr/>
          <p:nvPr/>
        </p:nvSpPr>
        <p:spPr>
          <a:xfrm>
            <a:off x="6858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28A4A210-FA94-C87D-0BF1-560BD7ECCA8A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064700EA-FF8F-E527-721E-821074111923}"/>
              </a:ext>
            </a:extLst>
          </p:cNvPr>
          <p:cNvSpPr txBox="1"/>
          <p:nvPr/>
        </p:nvSpPr>
        <p:spPr>
          <a:xfrm>
            <a:off x="8890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恢复机制</a:t>
            </a: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EB2F50A4-CE4E-8423-AB5B-4169A32BDB24}"/>
              </a:ext>
            </a:extLst>
          </p:cNvPr>
          <p:cNvSpPr txBox="1"/>
          <p:nvPr/>
        </p:nvSpPr>
        <p:spPr>
          <a:xfrm>
            <a:off x="8890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Return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Rollback Result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25" name="矩形: 圆角 524">
            <a:extLst>
              <a:ext uri="{FF2B5EF4-FFF2-40B4-BE49-F238E27FC236}">
                <a16:creationId xmlns:a16="http://schemas.microsoft.com/office/drawing/2014/main" id="{923A2D3F-EDAC-316D-153D-4A3E53C533C8}"/>
              </a:ext>
            </a:extLst>
          </p:cNvPr>
          <p:cNvSpPr/>
          <p:nvPr/>
        </p:nvSpPr>
        <p:spPr>
          <a:xfrm>
            <a:off x="34290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04CD206B-A44C-4F88-F5C1-BAA2D1BAA9C6}"/>
              </a:ext>
            </a:extLst>
          </p:cNvPr>
          <p:cNvSpPr/>
          <p:nvPr/>
        </p:nvSpPr>
        <p:spPr>
          <a:xfrm>
            <a:off x="34290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0F039065-1CC5-18C3-8EBE-E93FCB3ADAA2}"/>
              </a:ext>
            </a:extLst>
          </p:cNvPr>
          <p:cNvSpPr txBox="1"/>
          <p:nvPr/>
        </p:nvSpPr>
        <p:spPr>
          <a:xfrm>
            <a:off x="36322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应急能力</a:t>
            </a: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1B156401-15B9-9F80-0B34-26AA715AEA61}"/>
              </a:ext>
            </a:extLst>
          </p:cNvPr>
          <p:cNvSpPr txBox="1"/>
          <p:nvPr/>
        </p:nvSpPr>
        <p:spPr>
          <a:xfrm>
            <a:off x="36322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启用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禁用应急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Profile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29" name="矩形: 圆角 528">
            <a:extLst>
              <a:ext uri="{FF2B5EF4-FFF2-40B4-BE49-F238E27FC236}">
                <a16:creationId xmlns:a16="http://schemas.microsoft.com/office/drawing/2014/main" id="{4EE46E86-7E62-AA43-0AC9-A1FECA369319}"/>
              </a:ext>
            </a:extLst>
          </p:cNvPr>
          <p:cNvSpPr/>
          <p:nvPr/>
        </p:nvSpPr>
        <p:spPr>
          <a:xfrm>
            <a:off x="61722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3E7CBF75-AD8E-5AE3-3F08-B4C8FB3172D4}"/>
              </a:ext>
            </a:extLst>
          </p:cNvPr>
          <p:cNvSpPr/>
          <p:nvPr/>
        </p:nvSpPr>
        <p:spPr>
          <a:xfrm>
            <a:off x="61722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D6D2B619-A2CA-F576-10F9-EF2BBF10899D}"/>
              </a:ext>
            </a:extLst>
          </p:cNvPr>
          <p:cNvSpPr txBox="1"/>
          <p:nvPr/>
        </p:nvSpPr>
        <p:spPr>
          <a:xfrm>
            <a:off x="63754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通知</a:t>
            </a: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D243CA3E-CB60-3FC2-3F4C-BC6F5B2681F7}"/>
              </a:ext>
            </a:extLst>
          </p:cNvPr>
          <p:cNvSpPr txBox="1"/>
          <p:nvPr/>
        </p:nvSpPr>
        <p:spPr>
          <a:xfrm>
            <a:off x="63754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列举、投递、单条处理、删除。</a:t>
            </a:r>
          </a:p>
        </p:txBody>
      </p:sp>
      <p:sp>
        <p:nvSpPr>
          <p:cNvPr id="535" name="矩形: 圆角 534">
            <a:extLst>
              <a:ext uri="{FF2B5EF4-FFF2-40B4-BE49-F238E27FC236}">
                <a16:creationId xmlns:a16="http://schemas.microsoft.com/office/drawing/2014/main" id="{34BEB777-4AD6-918D-0EBB-9B0E1B4229C0}"/>
              </a:ext>
            </a:extLst>
          </p:cNvPr>
          <p:cNvSpPr/>
          <p:nvPr/>
        </p:nvSpPr>
        <p:spPr>
          <a:xfrm>
            <a:off x="89154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0EDA35C1-794A-72C7-F77F-9339D43A7BBF}"/>
              </a:ext>
            </a:extLst>
          </p:cNvPr>
          <p:cNvSpPr/>
          <p:nvPr/>
        </p:nvSpPr>
        <p:spPr>
          <a:xfrm>
            <a:off x="89154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文本框 536">
            <a:extLst>
              <a:ext uri="{FF2B5EF4-FFF2-40B4-BE49-F238E27FC236}">
                <a16:creationId xmlns:a16="http://schemas.microsoft.com/office/drawing/2014/main" id="{B5DF6766-B9BB-7487-0382-9021D0D60CF2}"/>
              </a:ext>
            </a:extLst>
          </p:cNvPr>
          <p:cNvSpPr txBox="1"/>
          <p:nvPr/>
        </p:nvSpPr>
        <p:spPr>
          <a:xfrm>
            <a:off x="91186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网络服务</a:t>
            </a: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19BAE44C-DF66-EFFD-D2ED-54B7F0810445}"/>
              </a:ext>
            </a:extLst>
          </p:cNvPr>
          <p:cNvSpPr txBox="1"/>
          <p:nvPr/>
        </p:nvSpPr>
        <p:spPr>
          <a:xfrm>
            <a:off x="91186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MQTT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LwM2M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HTTP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874C884-F621-EAA8-93F2-DA604C64A98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6A41B10C-3859-AEA1-A89D-744EF43B7DA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D16D18E1-10E4-40C3-1996-A7CC532E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5D0B99DB-B578-C5EB-A633-B9078C31D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06AB5A-2E76-91FA-1DF7-A28DB781708E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生命周期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1353D2-053B-3400-6AA4-49AD56DCC96A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正确的外部调用从配置、回调和初始化状态开始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72161FD-AB26-95DB-F99C-7B5794198A26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09163F8-00A7-8B63-10ED-02D752560125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7FF3BA-BFED-9778-7120-4E6F1067F717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08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A9B54C1-DF44-1FF4-457C-C7533B10BB3D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所有业务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都应在初始化成功后调用，并在退出前停止服务、释放返回对象、完成反初始化。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4E6BCE0-0974-ECFD-0866-78085DC6AB72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54DF9B9-1EFE-542E-DE3E-F9EB2A5030F0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00F73D1-ECAC-B825-3BE8-6B841153BAF5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准备 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ipa_config_t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9582312-22BB-FFCB-6D10-768744949DCB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7675337-2539-188D-E64C-F6F280506028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58ABA6-BB0C-8EF6-1AE5-DF625B2DBE15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15129DD-1261-76BC-6847-CA12B129F37B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注册事件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任务回调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2EFD894-6968-5A62-3450-09222373D910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263E0C1-D69D-A6D3-4994-BA4FADC8ADA7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68D3C5B-ACC7-0D06-1955-250546D93B0F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6277E9-64C8-C026-2FD6-5CEC0D4533B1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ipa_init_library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7A4277C-B219-08B2-CED2-CA3BFADB51D8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402A704-9626-AB21-F609-C0AE19A9598A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ABCDE80-40A8-34E0-8651-BA846C593DD0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5642969-3BD0-A219-5595-DD8D26D3FB77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调用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ipa__* / ipa_local__*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0B0152AD-A883-CC5A-F11E-04C954E6EF0E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0E5D012-168F-31D0-48E1-C63F2F8EBB90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E2B1E62-AE8C-FEB6-74F3-BE59CA9A44D5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8FD8D23-6CEA-A18F-A54A-067C355E5783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释放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返回资源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F0EEA29-D83A-DA23-E504-05B0BA61EE1C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F6990747-85A4-B531-E82A-E9CAA6F6B626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F083B6F-F420-2B50-D1D4-04571C1198EC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3232343-03F5-9B98-9F29-CEB40E546FFD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停止服务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FC3423C-023D-8313-74C7-B480E04C3A31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AC3DF22-2B39-13E6-9D01-702060A8077C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C7DF4AC-9952-AB25-9CDE-71ED6E8579AC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346BADB-F1CB-91E9-A287-6DF8458DC2A4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ipa_deinit_library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81BAD84-6195-F204-867F-1A65327E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7CA75A-AE6A-9D4F-C4FA-DA4F2386EBA9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生命周期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B4C065-D70B-5FA6-51C4-E0304F101745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初始化契约同时决定设备通道、日志与网络能力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E0DF1B0-38E2-3D12-B9B4-4958A3733EFD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29C45A7-4B27-AF10-7C2B-B4C75FEF007E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355963-7F08-5FFD-E7C0-3512DEF0B656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09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E90318-5239-6E85-7D23-8116A9B3A28A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实际字段以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ipa_config_t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和相关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typedef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为准；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目前只应用了其中一部分配置链路。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3AE4B3F-BBC3-9F7F-EE04-FE9D92CAB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07975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4151738103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81303181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245834869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关注项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外部调用责任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当前说明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53776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配置生命周期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配置对象在初始化期间保持有效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避免把短生命周期栈对象交给后台线程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31619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事件回调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处理初始化、服务及错误事件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Manager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event_cb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为空实现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26196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任务回调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可接管线程创建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结束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示例应用提供注册方式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5501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初始化结果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以真实完成事件或返回结果判定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当前较早设置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initialized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0895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反初始化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先停止服务，再释放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避免后台任务访问失效配置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58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EBEEE16-F85D-56DE-09CD-5194A2E0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251DD1-3290-30BD-CB94-F6E1C0A04A75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查询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D621AF-5BE8-5CB9-A7EC-601BFA864E6A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信息查询接口覆盖身份、能力、证书、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配置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D447B1A-806F-FAC5-1092-9AAEB9A4EA9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3C88E-674C-37E8-A4A1-8F990B57F097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86C54-E6F5-F0EE-793B-A9BB6AF83876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10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EF59144-7FC5-5968-EDF1-BA1E82C51ACD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查询接口通常返回结构化数据；调用方需要遵循对应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free API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或所有权约定。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B85F21E-6516-84E9-566B-673EC79D9312}"/>
              </a:ext>
            </a:extLst>
          </p:cNvPr>
          <p:cNvSpPr/>
          <p:nvPr/>
        </p:nvSpPr>
        <p:spPr>
          <a:xfrm>
            <a:off x="6858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87A588-AE8E-5CBD-53DF-9D2E519317D3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F93F54-6AA7-138A-E8C2-1F90DCAB22AA}"/>
              </a:ext>
            </a:extLst>
          </p:cNvPr>
          <p:cNvSpPr txBox="1"/>
          <p:nvPr/>
        </p:nvSpPr>
        <p:spPr>
          <a:xfrm>
            <a:off x="8890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ipa__get_eid_cstring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AEF5083-9E53-6A62-50F0-8F9641350121}"/>
              </a:ext>
            </a:extLst>
          </p:cNvPr>
          <p:cNvSpPr txBox="1"/>
          <p:nvPr/>
        </p:nvSpPr>
        <p:spPr>
          <a:xfrm>
            <a:off x="8890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 EID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写入调用方缓冲区。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1B07C1E-8340-05F4-6BDE-28DC876BD35A}"/>
              </a:ext>
            </a:extLst>
          </p:cNvPr>
          <p:cNvSpPr/>
          <p:nvPr/>
        </p:nvSpPr>
        <p:spPr>
          <a:xfrm>
            <a:off x="43434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7ABDCF-194C-1B4B-BE1E-84F2E5874CC6}"/>
              </a:ext>
            </a:extLst>
          </p:cNvPr>
          <p:cNvSpPr/>
          <p:nvPr/>
        </p:nvSpPr>
        <p:spPr>
          <a:xfrm>
            <a:off x="43434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B9DCA19-C632-25B2-8E28-A3B3A7EE097F}"/>
              </a:ext>
            </a:extLst>
          </p:cNvPr>
          <p:cNvSpPr txBox="1"/>
          <p:nvPr/>
        </p:nvSpPr>
        <p:spPr>
          <a:xfrm>
            <a:off x="45466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ipa__get_euicc_info_1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C7E34992-FC3E-CDD1-823F-FC390C884430}"/>
              </a:ext>
            </a:extLst>
          </p:cNvPr>
          <p:cNvSpPr txBox="1"/>
          <p:nvPr/>
        </p:nvSpPr>
        <p:spPr>
          <a:xfrm>
            <a:off x="45466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euiccInfo1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，并用专用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free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释放。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22D2DE99-DE28-76A2-DE55-F92665ADA7B7}"/>
              </a:ext>
            </a:extLst>
          </p:cNvPr>
          <p:cNvSpPr/>
          <p:nvPr/>
        </p:nvSpPr>
        <p:spPr>
          <a:xfrm>
            <a:off x="80010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1E7AF5C9-CCCC-51A4-4E8A-512262306E4B}"/>
              </a:ext>
            </a:extLst>
          </p:cNvPr>
          <p:cNvSpPr/>
          <p:nvPr/>
        </p:nvSpPr>
        <p:spPr>
          <a:xfrm>
            <a:off x="80010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CBAB763D-7384-5B79-007B-52E231D6BF57}"/>
              </a:ext>
            </a:extLst>
          </p:cNvPr>
          <p:cNvSpPr txBox="1"/>
          <p:nvPr/>
        </p:nvSpPr>
        <p:spPr>
          <a:xfrm>
            <a:off x="82042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ipa__get_euicc_info_2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F085EE2D-AA14-BE0F-C333-22145A1E6B21}"/>
              </a:ext>
            </a:extLst>
          </p:cNvPr>
          <p:cNvSpPr txBox="1"/>
          <p:nvPr/>
        </p:nvSpPr>
        <p:spPr>
          <a:xfrm>
            <a:off x="82042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euiccInfo2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，并用专用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free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释放。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D8C4B60B-7006-EDB8-6AA0-6044A73025EF}"/>
              </a:ext>
            </a:extLst>
          </p:cNvPr>
          <p:cNvSpPr/>
          <p:nvPr/>
        </p:nvSpPr>
        <p:spPr>
          <a:xfrm>
            <a:off x="6858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D92BC99A-58A7-3E48-0186-8692D59F24C0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597E0516-1A46-39C0-8AC9-969783319B67}"/>
              </a:ext>
            </a:extLst>
          </p:cNvPr>
          <p:cNvSpPr txBox="1"/>
          <p:nvPr/>
        </p:nvSpPr>
        <p:spPr>
          <a:xfrm>
            <a:off x="8890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ipa__get_certs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69C40AC2-BB52-E009-9BC3-172E0331686D}"/>
              </a:ext>
            </a:extLst>
          </p:cNvPr>
          <p:cNvSpPr txBox="1"/>
          <p:nvPr/>
        </p:nvSpPr>
        <p:spPr>
          <a:xfrm>
            <a:off x="8890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获取证书与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PKID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列表。</a:t>
            </a:r>
          </a:p>
        </p:txBody>
      </p:sp>
      <p:sp>
        <p:nvSpPr>
          <p:cNvPr id="521" name="矩形: 圆角 520">
            <a:extLst>
              <a:ext uri="{FF2B5EF4-FFF2-40B4-BE49-F238E27FC236}">
                <a16:creationId xmlns:a16="http://schemas.microsoft.com/office/drawing/2014/main" id="{1FEB5163-D2E8-96F3-9546-4C20C6657089}"/>
              </a:ext>
            </a:extLst>
          </p:cNvPr>
          <p:cNvSpPr/>
          <p:nvPr/>
        </p:nvSpPr>
        <p:spPr>
          <a:xfrm>
            <a:off x="43434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789E6645-A740-21A3-8769-FA804F6B619A}"/>
              </a:ext>
            </a:extLst>
          </p:cNvPr>
          <p:cNvSpPr/>
          <p:nvPr/>
        </p:nvSpPr>
        <p:spPr>
          <a:xfrm>
            <a:off x="43434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9B6F5D86-2672-1072-DD11-3EDAF4274D7E}"/>
              </a:ext>
            </a:extLst>
          </p:cNvPr>
          <p:cNvSpPr txBox="1"/>
          <p:nvPr/>
        </p:nvSpPr>
        <p:spPr>
          <a:xfrm>
            <a:off x="45466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ipa__get_all_profiles_info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A4DCAE04-A762-D4A4-8401-24DF40F4E72C}"/>
              </a:ext>
            </a:extLst>
          </p:cNvPr>
          <p:cNvSpPr txBox="1"/>
          <p:nvPr/>
        </p:nvSpPr>
        <p:spPr>
          <a:xfrm>
            <a:off x="45466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返回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数组、数量及可选原始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TLV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25" name="矩形: 圆角 524">
            <a:extLst>
              <a:ext uri="{FF2B5EF4-FFF2-40B4-BE49-F238E27FC236}">
                <a16:creationId xmlns:a16="http://schemas.microsoft.com/office/drawing/2014/main" id="{589D5AD2-4AF2-43BA-0725-58CA45A70AD2}"/>
              </a:ext>
            </a:extLst>
          </p:cNvPr>
          <p:cNvSpPr/>
          <p:nvPr/>
        </p:nvSpPr>
        <p:spPr>
          <a:xfrm>
            <a:off x="80010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29F1F252-10BB-0E32-5375-11EF65DD791C}"/>
              </a:ext>
            </a:extLst>
          </p:cNvPr>
          <p:cNvSpPr/>
          <p:nvPr/>
        </p:nvSpPr>
        <p:spPr>
          <a:xfrm>
            <a:off x="80010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A6408468-2B6E-6ED9-1201-32268BE46CF6}"/>
              </a:ext>
            </a:extLst>
          </p:cNvPr>
          <p:cNvSpPr txBox="1"/>
          <p:nvPr/>
        </p:nvSpPr>
        <p:spPr>
          <a:xfrm>
            <a:off x="82042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ipa__get_eim_configuration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A4799E44-320B-8069-EBDD-9C373FEA4731}"/>
              </a:ext>
            </a:extLst>
          </p:cNvPr>
          <p:cNvSpPr txBox="1"/>
          <p:nvPr/>
        </p:nvSpPr>
        <p:spPr>
          <a:xfrm>
            <a:off x="82042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读取当前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配置及响应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TLV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A0A162A-06F6-CCEA-4A08-BEE29C1A299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C454ADC0-DCA2-CE3F-60EA-4E1A3E216D6B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95E1792F-BACE-D3D9-964F-202F9890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7B5E6DC3-3DDA-4A3E-5A6E-7E0EA378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E41B63-1664-5965-9CFA-F037987342F0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调用链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188F7A-4EDF-5BE8-21FC-05B9C55596F2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一次典型查询会穿过公开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API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ES10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APDU/AT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TLV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解析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2A6F2D3-1A3B-C06E-7E5F-E137EE55F17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484C150-44CA-4E0A-F5D2-8B188AC06A74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15E104-D3D5-59ED-60B5-D57A1D52ACDE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11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2B8F55-5281-8EBD-DC8E-302BAFAD409C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大多数同步查询遵循相似骨架，差异集中在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ES10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命令、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TLV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生成与结果解析。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A24E03C-F438-9CC4-5654-CD2D41534ECD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A0A9062-08A0-44FB-1B17-499455271C94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4019418-E5FF-BB9F-B801-45673DEBD235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公开 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ipa__* API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A6D2F5C-13C5-EE20-FB6F-2B91128BED60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C14C87C-5D9B-E4E5-D459-10EA2491D8E7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701199-542F-072C-EEC9-454C557A86E1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C8EDC0-658D-08F7-931A-94BB24D8D933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es10__init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DEBDB6E-BCE5-84E0-D73E-0E6E0B436111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ED7B13B-53D6-4953-52ED-453FD45DE2A2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41AAF05-E6AB-6752-E94B-C28224F209E1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AB9E50B-03DD-1E8F-BC38-5A5A63E161D7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生成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ES10/TLV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请求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3687293-6EDF-FC9E-0AA9-0434744BF84B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DD62F76-5F1B-3C72-BE4A-95FE1027427C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0643BD6-7D1A-09D4-A592-62A970EB7503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4C41978-007F-A6E0-383E-46F915D6E50D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APDU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通过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AT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驱动发送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4FE4695-440E-87C9-8B62-EAF9F5E59C91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B0F2BBB-9BED-640E-9127-7ADD35F14A9D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76B2968-05AB-D23E-E2A8-7C063C28B288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C2144CA-95ED-BA1F-9E77-7FF50DD831B3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响应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5EA4BEB-A06E-D2BE-4FB3-9D996588CCDA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A203DC5-331B-DE6B-21B6-FED43BF51EFB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B9D3BC0-AD9C-B934-05F5-6430AD6F570E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D157034-9090-9A41-02DC-50D48AD4CD13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TLV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解析为结构体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FF3D65DE-6D50-7F8E-A650-7F0F1275C62E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A0957C37-5FAB-367A-6FBC-92165D371450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20215B2-A893-9A32-D88C-BA7B20E02348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ECA19D0-5FBD-20FB-B719-A96A95A99790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es10__deinit + </a:t>
            </a:r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返回 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ErrCode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5288CFC-515F-149F-EA7B-FFF6C9E3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C16F4C-915D-D87D-41EA-A1F0C2645572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与策略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E4BD4C-D504-A4D0-257A-112CB815CE9E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查询与恢复控制已具备底层入口，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生命周期操作仍需补齐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08682DA-B02E-6738-A5BE-BD7C7D3EEEB6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A41B74B-A9B0-9D4C-EFFC-061E1C346C35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910988-130F-8767-E40D-70C3F2171DE0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12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4E1952-22EB-ECB2-C8E6-850E4575579F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必须区分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已存在能力与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Manager Wrapper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的占位接口。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92787D4-DB2A-C4AA-939F-D1797D99F6A0}"/>
              </a:ext>
            </a:extLst>
          </p:cNvPr>
          <p:cNvSpPr/>
          <p:nvPr/>
        </p:nvSpPr>
        <p:spPr>
          <a:xfrm>
            <a:off x="6858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EA2F381-7C5F-BFAD-BCEE-E1834113B4D8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DFF449-51C8-A600-7CDA-9ACE09193D2F}"/>
              </a:ext>
            </a:extLst>
          </p:cNvPr>
          <p:cNvSpPr txBox="1"/>
          <p:nvPr/>
        </p:nvSpPr>
        <p:spPr>
          <a:xfrm>
            <a:off x="8890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列表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A28F27-052F-C8B2-8E66-EF555656509A}"/>
              </a:ext>
            </a:extLst>
          </p:cNvPr>
          <p:cNvSpPr txBox="1"/>
          <p:nvPr/>
        </p:nvSpPr>
        <p:spPr>
          <a:xfrm>
            <a:off x="8890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已存在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查询入口，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可展示列表信息。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02BCCEF-A4E6-A234-E3BD-3217E8E045D1}"/>
              </a:ext>
            </a:extLst>
          </p:cNvPr>
          <p:cNvSpPr/>
          <p:nvPr/>
        </p:nvSpPr>
        <p:spPr>
          <a:xfrm>
            <a:off x="43434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51020C1-AC15-3F14-D49A-11D5DAE3CC56}"/>
              </a:ext>
            </a:extLst>
          </p:cNvPr>
          <p:cNvSpPr/>
          <p:nvPr/>
        </p:nvSpPr>
        <p:spPr>
          <a:xfrm>
            <a:off x="43434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25A3570-4505-895E-3DA2-A9E26D0FC7A2}"/>
              </a:ext>
            </a:extLst>
          </p:cNvPr>
          <p:cNvSpPr txBox="1"/>
          <p:nvPr/>
        </p:nvSpPr>
        <p:spPr>
          <a:xfrm>
            <a:off x="45466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状态回调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F72FBCFE-BBF1-22E8-7BEA-2182801BCF61}"/>
              </a:ext>
            </a:extLst>
          </p:cNvPr>
          <p:cNvSpPr txBox="1"/>
          <p:nvPr/>
        </p:nvSpPr>
        <p:spPr>
          <a:xfrm>
            <a:off x="45466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可注册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状态变化回调。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73CA6282-9CBB-EC58-64C1-A7023063CD7B}"/>
              </a:ext>
            </a:extLst>
          </p:cNvPr>
          <p:cNvSpPr/>
          <p:nvPr/>
        </p:nvSpPr>
        <p:spPr>
          <a:xfrm>
            <a:off x="80010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96E7840E-7B3B-955A-A30F-E9378F5249DA}"/>
              </a:ext>
            </a:extLst>
          </p:cNvPr>
          <p:cNvSpPr/>
          <p:nvPr/>
        </p:nvSpPr>
        <p:spPr>
          <a:xfrm>
            <a:off x="80010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4AAA1ED9-A0CA-F947-357E-CD1F84A40635}"/>
              </a:ext>
            </a:extLst>
          </p:cNvPr>
          <p:cNvSpPr txBox="1"/>
          <p:nvPr/>
        </p:nvSpPr>
        <p:spPr>
          <a:xfrm>
            <a:off x="82042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Fallback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3D216FDD-C185-63E1-85D2-06CF472F3653}"/>
              </a:ext>
            </a:extLst>
          </p:cNvPr>
          <p:cNvSpPr txBox="1"/>
          <p:nvPr/>
        </p:nvSpPr>
        <p:spPr>
          <a:xfrm>
            <a:off x="82042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执行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 mechanism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Manager 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已有入口。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CC6E84B3-8B70-6B5F-0997-8EC3BA97DEB4}"/>
              </a:ext>
            </a:extLst>
          </p:cNvPr>
          <p:cNvSpPr/>
          <p:nvPr/>
        </p:nvSpPr>
        <p:spPr>
          <a:xfrm>
            <a:off x="6858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27FA5493-2F8C-27BA-4B5E-47A307228351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2B5C1843-1A15-C34B-CE27-8E4E40111244}"/>
              </a:ext>
            </a:extLst>
          </p:cNvPr>
          <p:cNvSpPr txBox="1"/>
          <p:nvPr/>
        </p:nvSpPr>
        <p:spPr>
          <a:xfrm>
            <a:off x="8890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Return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B4E42FDD-F465-E392-E6AC-FCD44D7EF28F}"/>
              </a:ext>
            </a:extLst>
          </p:cNvPr>
          <p:cNvSpPr txBox="1"/>
          <p:nvPr/>
        </p:nvSpPr>
        <p:spPr>
          <a:xfrm>
            <a:off x="8890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返回，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Manager 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已有入口。</a:t>
            </a:r>
          </a:p>
        </p:txBody>
      </p:sp>
      <p:sp>
        <p:nvSpPr>
          <p:cNvPr id="521" name="矩形: 圆角 520">
            <a:extLst>
              <a:ext uri="{FF2B5EF4-FFF2-40B4-BE49-F238E27FC236}">
                <a16:creationId xmlns:a16="http://schemas.microsoft.com/office/drawing/2014/main" id="{41DDFC38-E790-86C0-294F-364DDB56B50F}"/>
              </a:ext>
            </a:extLst>
          </p:cNvPr>
          <p:cNvSpPr/>
          <p:nvPr/>
        </p:nvSpPr>
        <p:spPr>
          <a:xfrm>
            <a:off x="43434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32DADBCB-B5A4-10BE-6785-D8044DD3CA97}"/>
              </a:ext>
            </a:extLst>
          </p:cNvPr>
          <p:cNvSpPr/>
          <p:nvPr/>
        </p:nvSpPr>
        <p:spPr>
          <a:xfrm>
            <a:off x="43434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C2A4FAB9-3847-A3D3-2D28-8C9BE72FCE6A}"/>
              </a:ext>
            </a:extLst>
          </p:cNvPr>
          <p:cNvSpPr txBox="1"/>
          <p:nvPr/>
        </p:nvSpPr>
        <p:spPr>
          <a:xfrm>
            <a:off x="45466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Rollback Result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0AC3B804-C9AD-FD86-4F75-9CED0EAB587D}"/>
              </a:ext>
            </a:extLst>
          </p:cNvPr>
          <p:cNvSpPr txBox="1"/>
          <p:nvPr/>
        </p:nvSpPr>
        <p:spPr>
          <a:xfrm>
            <a:off x="45466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向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报告回滚结果，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示例存在。</a:t>
            </a:r>
          </a:p>
        </p:txBody>
      </p:sp>
      <p:sp>
        <p:nvSpPr>
          <p:cNvPr id="525" name="矩形: 圆角 524">
            <a:extLst>
              <a:ext uri="{FF2B5EF4-FFF2-40B4-BE49-F238E27FC236}">
                <a16:creationId xmlns:a16="http://schemas.microsoft.com/office/drawing/2014/main" id="{6F013E6D-79CF-1B70-7850-87FE55DCCD0B}"/>
              </a:ext>
            </a:extLst>
          </p:cNvPr>
          <p:cNvSpPr/>
          <p:nvPr/>
        </p:nvSpPr>
        <p:spPr>
          <a:xfrm>
            <a:off x="80010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C4A9A500-6240-E5F9-7DD8-BAB4F43991C5}"/>
              </a:ext>
            </a:extLst>
          </p:cNvPr>
          <p:cNvSpPr/>
          <p:nvPr/>
        </p:nvSpPr>
        <p:spPr>
          <a:xfrm>
            <a:off x="80010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6BED605A-CB11-4797-A470-6FC36964E251}"/>
              </a:ext>
            </a:extLst>
          </p:cNvPr>
          <p:cNvSpPr txBox="1"/>
          <p:nvPr/>
        </p:nvSpPr>
        <p:spPr>
          <a:xfrm>
            <a:off x="82042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下载</a:t>
            </a:r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启停</a:t>
            </a:r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删除</a:t>
            </a: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50A2C511-3268-1B31-42DF-DCCA7F266B56}"/>
              </a:ext>
            </a:extLst>
          </p:cNvPr>
          <p:cNvSpPr txBox="1"/>
          <p:nvPr/>
        </p:nvSpPr>
        <p:spPr>
          <a:xfrm>
            <a:off x="82042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Manager Wrapper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当前返回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eNotImpl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，不能视为可用。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DC95783-AB85-0A78-5E78-22560467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FFCFE2-F746-7C9B-1CC3-6BAE36F24984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通知与应急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24A967-EAD1-6DAB-FE9E-527B635040B3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通知和应急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已形成多级能力，但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参数化程度不同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8F1434-7C8E-B9B8-0969-DDFD7515F6AE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F364180-68AA-0F62-D707-60D97A2B651E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567246-5CA5-D3BC-6385-9DC9E6690D31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13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2FFBB8-D35F-65D7-EA06-AE5195DA8106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全部通知与全部删除适合无参数按钮；单条操作需要序列号输入与结果展示。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8B50444-B2B5-DA8F-B3C3-A604892B080A}"/>
              </a:ext>
            </a:extLst>
          </p:cNvPr>
          <p:cNvSpPr/>
          <p:nvPr/>
        </p:nvSpPr>
        <p:spPr>
          <a:xfrm>
            <a:off x="6858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422D93-CFBE-53F7-CBE3-EA7D1C6FABE6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AE43FD-A8C2-5C41-F903-5B51B7B330E7}"/>
              </a:ext>
            </a:extLst>
          </p:cNvPr>
          <p:cNvSpPr txBox="1"/>
          <p:nvPr/>
        </p:nvSpPr>
        <p:spPr>
          <a:xfrm>
            <a:off x="8890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初始化通知组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904E207-CB1E-C1CD-4AAB-5F46F033316D}"/>
              </a:ext>
            </a:extLst>
          </p:cNvPr>
          <p:cNvSpPr txBox="1"/>
          <p:nvPr/>
        </p:nvSpPr>
        <p:spPr>
          <a:xfrm>
            <a:off x="8890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读取并维护通知列表。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F1ECB0D-D6E5-B4D7-1C7F-5EDAF7CC03A2}"/>
              </a:ext>
            </a:extLst>
          </p:cNvPr>
          <p:cNvSpPr/>
          <p:nvPr/>
        </p:nvSpPr>
        <p:spPr>
          <a:xfrm>
            <a:off x="43434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FC9277-D397-C7D6-671D-630D7DBFD96C}"/>
              </a:ext>
            </a:extLst>
          </p:cNvPr>
          <p:cNvSpPr/>
          <p:nvPr/>
        </p:nvSpPr>
        <p:spPr>
          <a:xfrm>
            <a:off x="43434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EFE4D6-57CB-96AC-CBDD-252F6E35BEB6}"/>
              </a:ext>
            </a:extLst>
          </p:cNvPr>
          <p:cNvSpPr txBox="1"/>
          <p:nvPr/>
        </p:nvSpPr>
        <p:spPr>
          <a:xfrm>
            <a:off x="45466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投递全部通知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91A07405-3756-2482-DE18-8E0C4B82325C}"/>
              </a:ext>
            </a:extLst>
          </p:cNvPr>
          <p:cNvSpPr txBox="1"/>
          <p:nvPr/>
        </p:nvSpPr>
        <p:spPr>
          <a:xfrm>
            <a:off x="45466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Manager 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均有入口。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44929AFA-A138-C3C7-E7A3-B827937D6AFE}"/>
              </a:ext>
            </a:extLst>
          </p:cNvPr>
          <p:cNvSpPr/>
          <p:nvPr/>
        </p:nvSpPr>
        <p:spPr>
          <a:xfrm>
            <a:off x="8001000" y="21844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972BEC91-A059-48ED-84BB-07784ACE4379}"/>
              </a:ext>
            </a:extLst>
          </p:cNvPr>
          <p:cNvSpPr/>
          <p:nvPr/>
        </p:nvSpPr>
        <p:spPr>
          <a:xfrm>
            <a:off x="80010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877D8E96-2B95-82DB-6439-3D0E9B6418FE}"/>
              </a:ext>
            </a:extLst>
          </p:cNvPr>
          <p:cNvSpPr txBox="1"/>
          <p:nvPr/>
        </p:nvSpPr>
        <p:spPr>
          <a:xfrm>
            <a:off x="8204200" y="23621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投递单条通知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2A5BE37E-B21A-0E5B-7585-BF46FC35ADA5}"/>
              </a:ext>
            </a:extLst>
          </p:cNvPr>
          <p:cNvSpPr txBox="1"/>
          <p:nvPr/>
        </p:nvSpPr>
        <p:spPr>
          <a:xfrm>
            <a:off x="8204200" y="27431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已封装，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尚需序列号输入链路。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F37F316E-9FA6-BB36-E0BB-0872BF1AADBD}"/>
              </a:ext>
            </a:extLst>
          </p:cNvPr>
          <p:cNvSpPr/>
          <p:nvPr/>
        </p:nvSpPr>
        <p:spPr>
          <a:xfrm>
            <a:off x="6858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C40910E4-ADE5-30DC-1461-B7E5231E4330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110A130E-216F-641F-747E-66084306D2F6}"/>
              </a:ext>
            </a:extLst>
          </p:cNvPr>
          <p:cNvSpPr txBox="1"/>
          <p:nvPr/>
        </p:nvSpPr>
        <p:spPr>
          <a:xfrm>
            <a:off x="8890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删除单条通知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9AB97FE8-A4F6-9877-0ED2-8D0812E0552B}"/>
              </a:ext>
            </a:extLst>
          </p:cNvPr>
          <p:cNvSpPr txBox="1"/>
          <p:nvPr/>
        </p:nvSpPr>
        <p:spPr>
          <a:xfrm>
            <a:off x="8890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已封装，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尚需参数链路。</a:t>
            </a:r>
          </a:p>
        </p:txBody>
      </p:sp>
      <p:sp>
        <p:nvSpPr>
          <p:cNvPr id="521" name="矩形: 圆角 520">
            <a:extLst>
              <a:ext uri="{FF2B5EF4-FFF2-40B4-BE49-F238E27FC236}">
                <a16:creationId xmlns:a16="http://schemas.microsoft.com/office/drawing/2014/main" id="{58BDB96E-E579-270C-42B9-852B80BE5CD3}"/>
              </a:ext>
            </a:extLst>
          </p:cNvPr>
          <p:cNvSpPr/>
          <p:nvPr/>
        </p:nvSpPr>
        <p:spPr>
          <a:xfrm>
            <a:off x="43434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E8560CCF-06B3-487C-2110-0CAC2150D147}"/>
              </a:ext>
            </a:extLst>
          </p:cNvPr>
          <p:cNvSpPr/>
          <p:nvPr/>
        </p:nvSpPr>
        <p:spPr>
          <a:xfrm>
            <a:off x="43434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500830BF-F2E8-6FB6-6A51-1AE90F465959}"/>
              </a:ext>
            </a:extLst>
          </p:cNvPr>
          <p:cNvSpPr txBox="1"/>
          <p:nvPr/>
        </p:nvSpPr>
        <p:spPr>
          <a:xfrm>
            <a:off x="45466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删除全部通知</a:t>
            </a: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112ACF5F-D1D1-95B9-C973-06C3C1BFE3DA}"/>
              </a:ext>
            </a:extLst>
          </p:cNvPr>
          <p:cNvSpPr txBox="1"/>
          <p:nvPr/>
        </p:nvSpPr>
        <p:spPr>
          <a:xfrm>
            <a:off x="45466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Manager GUI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均有入口。</a:t>
            </a:r>
          </a:p>
        </p:txBody>
      </p:sp>
      <p:sp>
        <p:nvSpPr>
          <p:cNvPr id="525" name="矩形: 圆角 524">
            <a:extLst>
              <a:ext uri="{FF2B5EF4-FFF2-40B4-BE49-F238E27FC236}">
                <a16:creationId xmlns:a16="http://schemas.microsoft.com/office/drawing/2014/main" id="{774B4E2C-E47E-B9F3-97E1-E910DAE02D16}"/>
              </a:ext>
            </a:extLst>
          </p:cNvPr>
          <p:cNvSpPr/>
          <p:nvPr/>
        </p:nvSpPr>
        <p:spPr>
          <a:xfrm>
            <a:off x="8001000" y="4229100"/>
            <a:ext cx="35052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7E729302-FB0F-E61E-FB4C-BC4F4F82B1DE}"/>
              </a:ext>
            </a:extLst>
          </p:cNvPr>
          <p:cNvSpPr/>
          <p:nvPr/>
        </p:nvSpPr>
        <p:spPr>
          <a:xfrm>
            <a:off x="80010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C09ACBA2-C0B7-2FF4-6A47-BD4331602052}"/>
              </a:ext>
            </a:extLst>
          </p:cNvPr>
          <p:cNvSpPr txBox="1"/>
          <p:nvPr/>
        </p:nvSpPr>
        <p:spPr>
          <a:xfrm>
            <a:off x="8204200" y="4406899"/>
            <a:ext cx="3149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应急 </a:t>
            </a:r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</a:t>
            </a:r>
            <a:endParaRPr lang="zh-CN" altLang="en-US" sz="14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444CAD38-35A0-357C-1CD3-9D550964328B}"/>
              </a:ext>
            </a:extLst>
          </p:cNvPr>
          <p:cNvSpPr txBox="1"/>
          <p:nvPr/>
        </p:nvSpPr>
        <p:spPr>
          <a:xfrm>
            <a:off x="8204200" y="4787899"/>
            <a:ext cx="3149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启用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禁用接口已接入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GUI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0C66D36-A1EF-3D38-6890-130FC508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AF0C33-B62B-AEE3-6425-C38E2DDE2FD5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网络服务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E069D8-E8F2-B886-E389-0207A13CF943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eIM/eSIPa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通信可按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MQTT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LwM2M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HTTP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三种协议构建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0888A1B-9524-FD73-D427-21F1C8715BA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DBAD302-FEE1-B37A-A03F-0CF18414A4C5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B3DB3F-7505-C39E-6FF4-5AE2995875ED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14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B8DF94-ADC1-0DDF-359B-F8895A1BB53D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协议能力由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CMake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特性、第三方依赖和运行配置共同决定。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35E6D83-E0EA-AF2F-1335-0DAB464B8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38381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174500548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083277864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030053472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协议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主要用途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当前接入状态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79289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MQTT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Broker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、主题、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QoS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、认证、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TLS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；底层含重连逻辑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已封装，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配置链路不完整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028779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LwM2M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Client/Bootstrap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UDP/DTLS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、对象模型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已封装，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配置链路不完整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733727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HTTP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URL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、请求体、超时、响应读取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已封装，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配置链路不完整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836746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Stop service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停止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HTTP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MQTT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LwM2M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后台服务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已有统一停止入口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62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98FC7F8-BE2C-84F2-2C47-43A6A50C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07167-9E0D-DFDE-066F-D7690B9EB32C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接口契约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E7EF24-7817-0613-E453-82FA065CB181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ErrCode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是统一失败面，但调用方仍需保留上下文和日志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7847A0C-2744-29CC-BB61-4239D5565CD6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75B18A9-2D02-E63B-54A2-93ACD2C1474C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BEA21D-CC08-F9E2-2143-0519613845E2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15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E6DA4C-9366-606D-4E90-5627CFDACD46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错误码负责分类，诊断还依赖参数、底层日志、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APDU/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网络响应和运行阶段。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F721A23-EB77-2CBA-84F1-EC0CB5BE1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779633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407345718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22091777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873113036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类别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典型含义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调用方建议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43074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eOk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调用成功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继续处理返回数据并按约定释放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96074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eFail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通用失败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结合日志定位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ES10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、设备或网络阶段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4883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eInvalidParam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参数或缓冲区无效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调用前校验指针、长度和字符串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1447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eNotImpl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当前入口未实现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禁止在产品流程中视为可降级成功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0438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资源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通信类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内存、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APDU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、连接或解析失败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记录原始响应与重试边界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558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BBB2367-9595-836D-52BE-F5F8B46A8DC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5B566BF6-47AE-0E3A-B653-F031E07815EA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20C8DBCC-3AB7-C8E1-DAB3-6003BA2AE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DDF8E8D9-7828-C906-C716-122FCE4C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C5DC71-8696-81A0-6062-F6091AAF7192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外部集成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2B36DA-52DA-EB7E-30D6-B2751AA561B1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直接集成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的最小闭环包含七个步骤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45EF0D6-284C-05B4-AC50-723462885F8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4ECC91A-C00C-FB3C-9738-56ACB7954348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775477-50AD-70BF-9719-E5DB83BA63AC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16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B0AF54-CD1D-0748-B129-F55E9380A0FD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建议先用只读查询验证设备链路，再逐步启用通知、网络和控制类能力。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468DAB2-F4F2-34D7-5467-392F18B2E40D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49A14D-63FB-6C44-046D-A4DD3B1A901C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39B54E4-88C1-92A0-83A8-6410AE5B1B7E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链接 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与依赖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F62F0AD-3971-CA1A-83AF-316F0F63438A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8FA32DB-88BA-E3E6-4E9E-E7674DE04029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55240A3-E1BB-B544-6D41-274FDF2287C6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A5E5E23-5552-2377-C4DE-CC85C17698A0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包含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ipa.h/typedefs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4576A9D-85B1-B986-F34A-7B209A346928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B1644BA-FDF6-68F1-35D7-6C52D9EF8869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4406FC9-732F-BEE1-1E38-A189FF18E63E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47199BE-16BA-DEB3-C6A2-46D93B2CF098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构造配置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855D7AD-B326-FA10-4C2C-E2927A44D7EF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485DD58-6DD8-9AE7-CAE3-323907B52422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9DB5429-3444-0697-18A5-1712F15138B2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F0BDD20-F44C-179C-BC4D-93BAC4610E3E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注册回调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CB9F27C-7684-0EF3-D436-5D3AB4B696EE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DFE83A3-9ECA-ACCA-E3EE-C66CF3AF2CE2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78E826F-0ABF-2154-1B8E-A738C5FF362C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EEEA88B-E025-4925-1A1A-D692C4C70147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初始化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SDK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3A9730D-2AE9-5578-55F7-4EDF19FABA29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7739E07-C791-CA9A-6D9A-E5406C8C5F7B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38C87C2-6AA1-89D7-4548-B64C10895DBE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E85EAD6-82D0-BC89-7DD1-F892BAF97AC1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调用并释放结果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370F637-5158-894B-2698-D883736F28F1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8F0B24D-58A2-79E5-D7F8-5972750FEB05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096908C-28D4-BC84-C53A-DA5E24231C2F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1D6D875-8FB8-A4E6-427A-40BFFC9A066D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停止服务并反初始化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7DC735D-F4C3-C6D3-E936-225E0933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21748E-3374-70EB-DC8D-0B0BA0E9B882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外部集成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51E352-5E27-8C4F-3E95-9FA650AC8079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接口使用中最容易遗漏的是缓冲区、所有权与后台任务生命周期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D50BB70-6160-5542-FB30-FCC8B297501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C1EF55B-DEAF-A641-3648-A9D36A218F39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724DDD-A566-9957-BEC5-F4253CA8AF89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17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B6314B-4A18-A14F-391E-96D64FCEC302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这些约束应在上层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中统一，而不是散落到每个按钮回调。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89E9B54-6CAB-E935-F454-81F5AF9A2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59029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63727395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99596728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80725711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约束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风险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推荐封装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93732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字符串缓冲区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长度不足或未终止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统一固定上限与返回长度检查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2065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结构化返回值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忘记专用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free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转换为自有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DTO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后立即释放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对象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76050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原始 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TLV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所有权不清晰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接口文档标明分配者和释放者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9674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异步服务配置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栈对象在线程中失效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复制到长生命周期上下文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01447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回调线程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直接更新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GTK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导致线程问题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通过主循环投递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更新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4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B162025-24F9-D0E3-B85E-3119154261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221464D-ADCD-006D-0075-1330E00EA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B7F1E0-EE67-1161-B636-F57B018CD010}"/>
              </a:ext>
            </a:extLst>
          </p:cNvPr>
          <p:cNvSpPr txBox="1"/>
          <p:nvPr/>
        </p:nvSpPr>
        <p:spPr>
          <a:xfrm>
            <a:off x="685800" y="736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MANAGER</a:t>
            </a:r>
            <a:endParaRPr lang="zh-CN" altLang="en-US" sz="10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CC5F98-8CCE-2889-F31C-1C297DEE861B}"/>
              </a:ext>
            </a:extLst>
          </p:cNvPr>
          <p:cNvSpPr txBox="1"/>
          <p:nvPr/>
        </p:nvSpPr>
        <p:spPr>
          <a:xfrm>
            <a:off x="685800" y="1879599"/>
            <a:ext cx="10414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第二部分｜</a:t>
            </a:r>
            <a:r>
              <a:rPr lang="en-US" altLang="zh-CN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IPAd Manager </a:t>
            </a:r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分层实现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315807-A384-E2D4-7C80-7979145B21B8}"/>
              </a:ext>
            </a:extLst>
          </p:cNvPr>
          <p:cNvCxnSpPr/>
          <p:nvPr/>
        </p:nvCxnSpPr>
        <p:spPr>
          <a:xfrm>
            <a:off x="685800" y="30226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01EBEF5-1232-48AF-FDD0-AD707ECF4EC4}"/>
              </a:ext>
            </a:extLst>
          </p:cNvPr>
          <p:cNvSpPr txBox="1"/>
          <p:nvPr/>
        </p:nvSpPr>
        <p:spPr>
          <a:xfrm>
            <a:off x="685800" y="3403599"/>
            <a:ext cx="9652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600">
                <a:solidFill>
                  <a:srgbClr val="14171A"/>
                </a:solidFill>
                <a:latin typeface="Microsoft YaHei" panose="020B0503020204020204" pitchFamily="34" charset="-122"/>
              </a:rPr>
              <a:t>GTK </a:t>
            </a:r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界面到 </a:t>
            </a:r>
            <a:r>
              <a:rPr lang="en-US" altLang="zh-CN" sz="1600">
                <a:solidFill>
                  <a:srgbClr val="14171A"/>
                </a:solidFill>
                <a:latin typeface="Microsoft YaHei" panose="020B0503020204020204" pitchFamily="34" charset="-122"/>
              </a:rPr>
              <a:t>SDK Core </a:t>
            </a:r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的职责边界与调用路径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B81570-7B80-69B2-487F-3E26AD897E8B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6A2E56-702B-EB5D-2166-B274E0FBD79F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18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8B0D6FFE-7CDA-6B92-493B-9D9171AB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54B840-0005-E952-A9D6-F2EBB44B1D31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架构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8C3929-AE99-4FFD-2587-54AB5B0F8AA1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通过五层结构隔离界面、业务语义与底层协议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3113F5F-CD05-2350-7F25-6AE65F43E708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632180A-DFEE-2816-22BD-A19B0B086CFD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2BF577-0397-74E8-2E33-0C9D9E5EBA27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19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6427EFD-593F-F129-986F-4A80278D3D18}"/>
              </a:ext>
            </a:extLst>
          </p:cNvPr>
          <p:cNvSpPr/>
          <p:nvPr/>
        </p:nvSpPr>
        <p:spPr>
          <a:xfrm>
            <a:off x="685800" y="1727200"/>
            <a:ext cx="10820400" cy="787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5F5A69-25A8-7072-C4E3-A0EF7F6D0CE5}"/>
              </a:ext>
            </a:extLst>
          </p:cNvPr>
          <p:cNvSpPr txBox="1"/>
          <p:nvPr/>
        </p:nvSpPr>
        <p:spPr>
          <a:xfrm>
            <a:off x="889000" y="1892299"/>
            <a:ext cx="184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表现层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A14FD1-4C59-CBC6-1218-036A02E07BA1}"/>
              </a:ext>
            </a:extLst>
          </p:cNvPr>
          <p:cNvSpPr txBox="1"/>
          <p:nvPr/>
        </p:nvSpPr>
        <p:spPr>
          <a:xfrm>
            <a:off x="2895600" y="1892299"/>
            <a:ext cx="8407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GTK GUI · 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菜单 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日志区 </a:t>
            </a:r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参数输入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6192F73-BD6D-9F29-2E0C-1CE5D15B4BC3}"/>
              </a:ext>
            </a:extLst>
          </p:cNvPr>
          <p:cNvSpPr/>
          <p:nvPr/>
        </p:nvSpPr>
        <p:spPr>
          <a:xfrm>
            <a:off x="965200" y="2616200"/>
            <a:ext cx="10261600" cy="787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149075-9998-15F8-0776-C92F5A4A59F6}"/>
              </a:ext>
            </a:extLst>
          </p:cNvPr>
          <p:cNvSpPr txBox="1"/>
          <p:nvPr/>
        </p:nvSpPr>
        <p:spPr>
          <a:xfrm>
            <a:off x="1168400" y="2781299"/>
            <a:ext cx="184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457D6"/>
                </a:solidFill>
                <a:latin typeface="Microsoft YaHei" panose="020B0503020204020204" pitchFamily="34" charset="-122"/>
              </a:rPr>
              <a:t>业务层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25E2DAE-FA5F-59A3-9892-7B6245D86C51}"/>
              </a:ext>
            </a:extLst>
          </p:cNvPr>
          <p:cNvSpPr txBox="1"/>
          <p:nvPr/>
        </p:nvSpPr>
        <p:spPr>
          <a:xfrm>
            <a:off x="3175000" y="2781299"/>
            <a:ext cx="78486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定义 </a:t>
            </a:r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命令构造 </a:t>
            </a:r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结果格式化 </a:t>
            </a:r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状态展示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3AC092F-F6C5-D402-F1D8-A2FEBA9BB062}"/>
              </a:ext>
            </a:extLst>
          </p:cNvPr>
          <p:cNvSpPr/>
          <p:nvPr/>
        </p:nvSpPr>
        <p:spPr>
          <a:xfrm>
            <a:off x="1244600" y="3505200"/>
            <a:ext cx="9702800" cy="787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5ECD5F0-2511-AA7E-AFA5-19FF07189976}"/>
              </a:ext>
            </a:extLst>
          </p:cNvPr>
          <p:cNvSpPr txBox="1"/>
          <p:nvPr/>
        </p:nvSpPr>
        <p:spPr>
          <a:xfrm>
            <a:off x="1447800" y="3670299"/>
            <a:ext cx="184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457D6"/>
                </a:solidFill>
                <a:latin typeface="Microsoft YaHei" panose="020B0503020204020204" pitchFamily="34" charset="-122"/>
              </a:rPr>
              <a:t>适配层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CAF403-21CE-3185-114C-AFA486BFD984}"/>
              </a:ext>
            </a:extLst>
          </p:cNvPr>
          <p:cNvSpPr txBox="1"/>
          <p:nvPr/>
        </p:nvSpPr>
        <p:spPr>
          <a:xfrm>
            <a:off x="3454400" y="3670299"/>
            <a:ext cx="7289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ipad_wrapper_* ·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错误映射 </a:t>
            </a:r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· SDK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生命周期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1907605-B65A-FF31-9A5D-F57B203E9D44}"/>
              </a:ext>
            </a:extLst>
          </p:cNvPr>
          <p:cNvSpPr/>
          <p:nvPr/>
        </p:nvSpPr>
        <p:spPr>
          <a:xfrm>
            <a:off x="1524000" y="4394200"/>
            <a:ext cx="9144000" cy="787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F1180E1-BA2F-9C28-9B36-4197F7E86845}"/>
              </a:ext>
            </a:extLst>
          </p:cNvPr>
          <p:cNvSpPr txBox="1"/>
          <p:nvPr/>
        </p:nvSpPr>
        <p:spPr>
          <a:xfrm>
            <a:off x="1727200" y="4559299"/>
            <a:ext cx="184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 b="1">
                <a:solidFill>
                  <a:srgbClr val="2457D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300" b="1">
                <a:solidFill>
                  <a:srgbClr val="2457D6"/>
                </a:solidFill>
                <a:latin typeface="Microsoft YaHei" panose="020B0503020204020204" pitchFamily="34" charset="-122"/>
              </a:rPr>
              <a:t>核心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24234D68-C013-FB58-6C60-C825A8AD5B8B}"/>
              </a:ext>
            </a:extLst>
          </p:cNvPr>
          <p:cNvSpPr txBox="1"/>
          <p:nvPr/>
        </p:nvSpPr>
        <p:spPr>
          <a:xfrm>
            <a:off x="3733800" y="4559299"/>
            <a:ext cx="6731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ipa_* · RSP/EIM · ES10 · TLV · 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通知</a:t>
            </a:r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14171A"/>
                </a:solidFill>
                <a:latin typeface="Microsoft YaHei" panose="020B0503020204020204" pitchFamily="34" charset="-122"/>
              </a:rPr>
              <a:t>策略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A56E2C9F-55D3-72E7-4700-F9A1008B1EC1}"/>
              </a:ext>
            </a:extLst>
          </p:cNvPr>
          <p:cNvSpPr/>
          <p:nvPr/>
        </p:nvSpPr>
        <p:spPr>
          <a:xfrm>
            <a:off x="1803400" y="5283200"/>
            <a:ext cx="8585200" cy="787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文本框 513">
            <a:extLst>
              <a:ext uri="{FF2B5EF4-FFF2-40B4-BE49-F238E27FC236}">
                <a16:creationId xmlns:a16="http://schemas.microsoft.com/office/drawing/2014/main" id="{D0D57F48-161B-F899-0640-446B99AFA000}"/>
              </a:ext>
            </a:extLst>
          </p:cNvPr>
          <p:cNvSpPr txBox="1"/>
          <p:nvPr/>
        </p:nvSpPr>
        <p:spPr>
          <a:xfrm>
            <a:off x="2006600" y="5448299"/>
            <a:ext cx="1841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457D6"/>
                </a:solidFill>
                <a:latin typeface="Microsoft YaHei" panose="020B0503020204020204" pitchFamily="34" charset="-122"/>
              </a:rPr>
              <a:t>基础设施</a:t>
            </a:r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C94FA377-3625-F23C-32A5-2176ABDDDEED}"/>
              </a:ext>
            </a:extLst>
          </p:cNvPr>
          <p:cNvSpPr txBox="1"/>
          <p:nvPr/>
        </p:nvSpPr>
        <p:spPr>
          <a:xfrm>
            <a:off x="4013200" y="5448299"/>
            <a:ext cx="6172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4171A"/>
                </a:solidFill>
                <a:latin typeface="Microsoft YaHei" panose="020B0503020204020204" pitchFamily="34" charset="-122"/>
              </a:rPr>
              <a:t>AT/APDU · MQTT/LwM2M/HTTP · eUICC · eIM · SM-DP+</a:t>
            </a:r>
            <a:endParaRPr lang="zh-CN" altLang="en-US" sz="1100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AEEC267-F583-FEAB-54F0-2494672F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615819-AB58-9419-3AC3-011A64393188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EF03D6-762C-911B-1604-2987F13EB775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每一层都应只承担一种变化来源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8E34CF8-3DA1-4511-51B2-A456329D2BE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772AC39-3465-2956-B12B-0AAA835B4D9C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C1BE18-0D8E-D11F-D8F3-CED069E49B45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20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D06A31-31D2-CE2A-6F1B-3C39C5953C08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当前结构已经具备分层骨架，但部分配置、线程和状态仍跨层泄漏。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A0C0171-4EDA-9516-2543-771AA3F06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95537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1490175199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240881759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732657642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层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模块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主要文件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职责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31333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启动与生命周期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src/main.c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初始化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GTK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、窗口与退出清理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9377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GUI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src/gui/gui_main.c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控件、动作分发、日志与结果展示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6663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API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元数据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include/app_api_definitions.h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名称、分类、描述和可见操作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839149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业务逻辑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src/business_logic/command_builder.c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构造命令和错误文本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5193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SDK Wrapper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src/sdk_wrapper/ipad_wrapper.c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把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语义映射到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809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配置工具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src/utils/config_manager.c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默认值、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JSON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解析、校验与保存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764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8BB027F-7371-7CE2-29E3-D3DD8BAC6E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4EE94001-0D1C-A722-A75B-0485136FEE4D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C9A3051A-5686-1CE0-A429-202F52AE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92E9726A-49AA-178D-0EAB-BBB0077F3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EFC5CC-09CE-7C53-0C36-407C16C1D447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调用链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9EB480-7D87-C79C-0B3C-973C982518F8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一次按钮操作从字符串分发开始，最终映射到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ipa_* API</a:t>
            </a:r>
            <a:endParaRPr lang="zh-CN" altLang="en-US" sz="25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7FA5B6A-2D47-A500-E81B-668BD7F9113D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1748D1A-4176-3EC6-1DF1-34EA20ADCBB6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8EC0A6-A6E9-BBDE-9AE9-3EE9AEA43FF1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21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C4ADC2-2695-3CD6-D721-61D9FB2EC611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当前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名称字符串进行分支判断；可工作，但扩展性和类型安全有限。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E13C46F-71E0-44AB-C33E-C1DAD3BF27BA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281B71-C66F-B67C-0323-A4E765AB77CB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810F687-CA76-8C5D-D129-ED7DC6C593A7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用户点击功能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F1E623B-B610-B84F-F8C6-3FCC3F1E68B3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682C5BD-D8CA-DC9A-A7A4-A048058E671E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869AAB-C70F-5DD2-14ED-A6A4D35B90D5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ADE9FEA-F79E-7CED-94B5-CD9B2171B999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定义项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31EB497-05C3-0FC1-AC9E-BF83E59EB2F8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4DA58A7-3B59-79EE-2B44-BBB00CA52106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FEBAD35-7C10-08C9-A729-E3813C64FA6B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5C67D8D-9646-074B-4795-29F46094CE44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gui_main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字符串比较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1C47043-FA9D-3B7B-98FA-FC07FB0043C0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2EB0504-30AF-F60D-99A1-1D320F8FAF11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A23B12C-E3FF-DFCE-3A8C-49D0829CA441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9DC7FD-BB7B-7808-DC8B-3EE361267C85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收集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补齐参数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E6F6F11-B153-EC92-B9F8-5F60D2658C33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6D89339-A7A7-C9B1-B3EC-879BF31001E1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A1466BC-4963-6471-A5D6-A2410A30FB51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81144ED-B448-8DC8-1EA0-61A12276E432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ipad_wrapper_*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E822F76-21CB-5925-727F-73DCBC884197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1D3BE18-2738-188D-DD0D-A56A5A1F2077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CCCE88-E77E-505A-966A-491CDE964DB6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CE9303C-6740-D8D0-ECA6-A7668D7C3F6C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ipa__* / ipa_local__*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A4170EA-7949-4735-B7F1-0BE43B3E558E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1C758CB-2A67-077E-81F0-A7D708EFE6FD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EF28054-9E7D-2978-AB61-7261298B0DB2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D066155-A42E-FBF9-3175-647624CCFA21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格式化结果与日志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92794E7-AB08-7455-6F85-669541B2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14771F-97D5-7293-9A0B-4E41B111B1E9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接入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274C23-4A9F-85DB-02EA-6DF9AAF4230E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当前直接接通的能力集中在查询、恢复、批量通知和应急操作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38820C3-E787-FA45-448C-3CB95928F9C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97ADCAB-7075-3A71-DAFE-8FC2DCFB56D2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F3A380-1BC5-0360-E7B3-DF8404859877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22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815669-4192-1A52-D127-BABC18A22085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下表反映当前代码路径，不以发布说明中的完成标记代替验证。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3B6F25B-5707-EE9C-5E40-4C4DD75A2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33788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94776026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62811255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36677869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05550189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功能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GUI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Wrapper/SDK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247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EID / EuiccInfo1/2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有入口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已调用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604529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证书 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/ Profile / EIM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配置查询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有入口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已调用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8047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Fallback / Return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有入口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已调用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2529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全部通知 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删除全部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有入口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已调用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771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应急 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Profile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启停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有入口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已调用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8644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停止 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EIM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服务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有入口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统一停止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300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F3BEB61-E93B-F89A-C318-9BA83845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D01F64-C205-5812-E04B-E65C98630E03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接入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A3E4B1-3238-CF64-E174-666757183818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部分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已存在，但缺少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参数、状态或结果闭环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E500510-ED1A-BB5F-216D-84B269262B7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37076D1-0ACB-D530-9A32-9EE1D818BDF7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9D241F-D0B5-4570-70C7-9D23044D806B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23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2CB7AF-6381-0560-6B5F-C8312F726F94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这类能力应标记为“接入不完整”，不宜与可交付功能混为一谈。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9A316F7-0626-6218-4184-94C05A4D3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22327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19948091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65864887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14933471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23571181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能力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底层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/Wrapper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缺口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46235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MQTT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连接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存在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Broker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、认证、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TLS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配置未完整贯通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接入不完整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44376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LwM2M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连接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存在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端点、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Bootstrap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DTLS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参数未完整贯通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接入不完整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28798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HTTP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连接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存在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URL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、超时、证书参数未完整贯通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接入不完整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755550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单条通知投递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存在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序列号输入与结果闭环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接入不完整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24430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单条通知删除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存在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序列号输入与刷新闭环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接入不完整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01301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配置文件应用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解析存在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启动时查找与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SDK/UI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应用链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接入不完整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6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5A6E886-0E1B-E503-7523-682069A8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D4993E-D63B-352D-625F-C44009BD0D49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功能模板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D56A5C-3638-EC20-F6F6-30E8C9EC3111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的功能模板可按“查询、动作、会话、配置”四种交互模型组织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A58F035-3864-F28A-BE2A-EBED844EFAF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AA1B1A5-0599-1CE7-7CEE-90C73A1522B1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4CC6A4-8AB4-C33B-4665-849BE7BCEACB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24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8B5113-95FB-1743-9A8C-A051F9F99373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统一模板能够减少每个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单独写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和错误处理的成本。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69A7B42-7C80-42F4-73B6-3A7D2EB9D048}"/>
              </a:ext>
            </a:extLst>
          </p:cNvPr>
          <p:cNvSpPr/>
          <p:nvPr/>
        </p:nvSpPr>
        <p:spPr>
          <a:xfrm>
            <a:off x="6858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C993DF-CDE6-D89B-BDDA-D03E306AA7AD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9460AE-DE5B-E813-4451-395C4862E551}"/>
              </a:ext>
            </a:extLst>
          </p:cNvPr>
          <p:cNvSpPr txBox="1"/>
          <p:nvPr/>
        </p:nvSpPr>
        <p:spPr>
          <a:xfrm>
            <a:off x="8890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查询模板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6A20EA7-0EE4-E2D0-5065-44C17445FBA0}"/>
              </a:ext>
            </a:extLst>
          </p:cNvPr>
          <p:cNvSpPr txBox="1"/>
          <p:nvPr/>
        </p:nvSpPr>
        <p:spPr>
          <a:xfrm>
            <a:off x="8890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无参数或少量参数 → 调用 → 结构化结果表格 → 可复制日志。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1EB7D71-3296-8699-72E3-8EB0F2CF1BDB}"/>
              </a:ext>
            </a:extLst>
          </p:cNvPr>
          <p:cNvSpPr/>
          <p:nvPr/>
        </p:nvSpPr>
        <p:spPr>
          <a:xfrm>
            <a:off x="61722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83EF5E-2D83-7AF5-AD1B-D194FDFDB302}"/>
              </a:ext>
            </a:extLst>
          </p:cNvPr>
          <p:cNvSpPr/>
          <p:nvPr/>
        </p:nvSpPr>
        <p:spPr>
          <a:xfrm>
            <a:off x="61722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DA126B6-D92F-7758-3609-2F5A47AA70C3}"/>
              </a:ext>
            </a:extLst>
          </p:cNvPr>
          <p:cNvSpPr txBox="1"/>
          <p:nvPr/>
        </p:nvSpPr>
        <p:spPr>
          <a:xfrm>
            <a:off x="63754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动作模板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D3472314-829C-0DFF-237E-6692343DEA72}"/>
              </a:ext>
            </a:extLst>
          </p:cNvPr>
          <p:cNvSpPr txBox="1"/>
          <p:nvPr/>
        </p:nvSpPr>
        <p:spPr>
          <a:xfrm>
            <a:off x="63754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风险提示 → 确认 → 执行 → 状态刷新；适合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应急操作。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43FDD90B-88B4-EA78-368B-5082D390A068}"/>
              </a:ext>
            </a:extLst>
          </p:cNvPr>
          <p:cNvSpPr/>
          <p:nvPr/>
        </p:nvSpPr>
        <p:spPr>
          <a:xfrm>
            <a:off x="6858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E85945DF-79E4-B6B1-4E15-2D5BF3BDDDC5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D6FF3863-23D6-00AD-2294-D366BC179982}"/>
              </a:ext>
            </a:extLst>
          </p:cNvPr>
          <p:cNvSpPr txBox="1"/>
          <p:nvPr/>
        </p:nvSpPr>
        <p:spPr>
          <a:xfrm>
            <a:off x="8890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会话模板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91152C29-C4EF-EC67-24BA-57C0203B060D}"/>
              </a:ext>
            </a:extLst>
          </p:cNvPr>
          <p:cNvSpPr txBox="1"/>
          <p:nvPr/>
        </p:nvSpPr>
        <p:spPr>
          <a:xfrm>
            <a:off x="8890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连接参数 → 启动后台服务 → 状态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重连 → 停止。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35093244-612B-621D-9332-791B0337F52F}"/>
              </a:ext>
            </a:extLst>
          </p:cNvPr>
          <p:cNvSpPr/>
          <p:nvPr/>
        </p:nvSpPr>
        <p:spPr>
          <a:xfrm>
            <a:off x="61722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2311F26C-F6C9-4D73-E296-23B242B201DC}"/>
              </a:ext>
            </a:extLst>
          </p:cNvPr>
          <p:cNvSpPr/>
          <p:nvPr/>
        </p:nvSpPr>
        <p:spPr>
          <a:xfrm>
            <a:off x="61722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AE9058AD-4FD9-6414-7A86-80AA5AE68D0C}"/>
              </a:ext>
            </a:extLst>
          </p:cNvPr>
          <p:cNvSpPr txBox="1"/>
          <p:nvPr/>
        </p:nvSpPr>
        <p:spPr>
          <a:xfrm>
            <a:off x="63754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配置模板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0E203067-3AC7-D34B-A8E9-23227ADBD083}"/>
              </a:ext>
            </a:extLst>
          </p:cNvPr>
          <p:cNvSpPr txBox="1"/>
          <p:nvPr/>
        </p:nvSpPr>
        <p:spPr>
          <a:xfrm>
            <a:off x="63754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JSON →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默认值 → 校验 → 应用 → 保存；敏感项单独处理。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FE45988-23EB-A3CE-BE10-CC962A1E9F1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EB8D51EC-C8DC-DA54-F9D7-2E2D76A2185A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EEE3A77-DC97-B1AD-CA08-86DA1B9F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3B2778D3-08D3-1306-767F-440CF904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121D69-C324-E826-8A6E-C109E9A4AC28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启动与关闭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4B081E-2EA2-0115-B886-91E16C82C310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主程序启动链路已具备，但初始化完成状态应更加严格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ABDB8D5-010B-BCB7-E203-5EB905E47C52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21F0D07-AFC2-1F84-80B0-0030720878E0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4B5206-9A8E-843B-6CD4-1254D5534503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25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C93D96C-1825-1AB3-07F5-1E1A747F1058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当前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ipa_init_library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返回后较早标记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initialized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；若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内部仍异步初始化，可能产生竞态。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4D2F141-190F-F7CB-491B-3519459EA7E5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6996834-EAC4-3C62-2924-53E2C334E73B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B79E6B0-BC3E-BBE5-0E41-59C139B2045A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加载配置路径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CE1B7DD-2910-3817-B3BD-8B086A3272C8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D9D4902-1AB1-2DE1-83F4-034B0B0CA5AA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C266CD8-A50F-FA66-1E8F-3172DFFB485D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CF1CB59-E840-E21A-2B29-762111EC402F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创建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GTK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主窗口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18C9788-9A65-F05A-22C1-4FF6EBAEC83D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9264518-C14D-A041-002F-59436B1864DD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E29F190-872C-07B4-802A-F9673F16F7F1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F05D55E-C787-467E-4A66-68AEF970D370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ipad_wrapper_init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0078664-C83A-5B31-C436-7BDDAA39757A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A3DFBC4-476D-3405-78D4-F00B4A7CEC90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7539FC6-2AD1-B7EB-F168-801195E5D122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CC0C186-620E-B1B8-6559-79856841A817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ipa_init_library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0AC7A87-E855-B965-059C-F2C433705ABA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84D624C-34E3-9A13-9C64-9A7F64F95759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3A37748-336D-E887-CCDF-C13A6D198C15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393F7D7-0769-1A6B-1C20-D9B5743269F7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注册任务回调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C6950D0-645C-9818-3590-48F2777927B5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520F04E-3BAB-13F6-BCA7-649DD50DA935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5603A24-D4EC-9D9D-A791-7A45246E6A58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3CBB95F-5644-BDC4-5AB7-A5C501A6BC14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进入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GTK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主循环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F304763-7762-1CD2-0B0D-CE1E6585FF1E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10E73B8-EE32-217E-6DF4-A234CA9597C5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C1A5DAD-BD71-9266-F9EC-3BEA8FA9B45F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9443202-1C17-B9A7-53D5-F0ABCBA45D11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退出时 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deinit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3E41EBA-0234-8256-11C3-80D114A2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7FB427-567D-46B2-39A5-00277320E42B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配置与日志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461D0B-474B-154E-CEC6-A2710BA489B9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配置组件已具备解析基础，真正的生产链路还需完成“查找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应用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验证”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E22ADFA-9EA8-FA6E-6ABE-F6127F0C78E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979528D-BB7E-6A0B-393A-92B5FBADC657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BEF52B-0C77-BD22-E4B5-B05EA1BCF9F3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26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CD940B-9E53-33E0-294D-72BDF7F740E2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示例配置覆盖设备、日志和网络协议，但证书路径与运行对象的绑定仍需核验。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DC27860-D0D6-857C-8985-6950E60D8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704071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48487577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7315113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722403943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配置域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已有能力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待完善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5649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文件加载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JSON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解析、默认值、基础校验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启动时多路径查找与错误提示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2589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设备通道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配置结构存在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串口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驱动选择与可用性探测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4483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MQTT/LwM2M/HTTP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默认项和解析存在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完整传入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与后台服务上下文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164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TLS/DTLS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证书路径字段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说明存在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验证、加载与失败反馈闭环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7621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日志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日志与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日志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级别、脱敏、轮转和导出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5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209400F-5283-C315-F660-CE6999D6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838D06-9C43-124D-F956-44B9CEEE8125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线程与资源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A26FB4-86DA-A996-8734-6625F0CB2024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线程和资源所有权是当前最值得优先治理的横切问题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364F2E3-E177-9A30-1035-99134DBDFEFB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D4FC199-EF78-A5AF-A576-5835CDAF394D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9F5E76-3C95-3EE2-EC9F-B88B394B9959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27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D67604-C672-E805-4529-BECFB7E32ECB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问题不一定立即触发，但会在重连、退出、反复查询和错误路径中放大。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5152ADB-8ED8-F69F-5EA6-8BE75D750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78340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24909582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5491067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606379058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877650740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问题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现状证据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影响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建议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3938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异步初始化状态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提前置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initialized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业务调用过早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以完成事件驱动状态机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701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空事件回调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event_cb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无处理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丢失服务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错误状态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映射到统一事件总线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24953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栈配置传线程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服务配置为局部对象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悬空引用风险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深拷贝到会话上下文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68148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Profile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释放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free_profiles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为空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重复查询泄漏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明确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DTO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与释放契约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1654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字符串分发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strcmp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选择动作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重构易出错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函数表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命令对象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1DC2630-DDB0-7DE8-9270-AFEFA02C0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70B3B69E-95E5-8891-73A0-4396A19FA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32FB18-E1E4-EEBD-2A29-E83141E699F8}"/>
              </a:ext>
            </a:extLst>
          </p:cNvPr>
          <p:cNvSpPr txBox="1"/>
          <p:nvPr/>
        </p:nvSpPr>
        <p:spPr>
          <a:xfrm>
            <a:off x="685800" y="736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部署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3EDC13-D1F7-FD6A-8070-01532741A123}"/>
              </a:ext>
            </a:extLst>
          </p:cNvPr>
          <p:cNvSpPr txBox="1"/>
          <p:nvPr/>
        </p:nvSpPr>
        <p:spPr>
          <a:xfrm>
            <a:off x="685800" y="1879599"/>
            <a:ext cx="10414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第三部分｜兼容性、一键部署与使用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1DA7B71-9CB0-2FCE-DF21-38E63A7FE2BD}"/>
              </a:ext>
            </a:extLst>
          </p:cNvPr>
          <p:cNvCxnSpPr/>
          <p:nvPr/>
        </p:nvCxnSpPr>
        <p:spPr>
          <a:xfrm>
            <a:off x="685800" y="30226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21D411E-1CD3-AD94-5287-F15347021093}"/>
              </a:ext>
            </a:extLst>
          </p:cNvPr>
          <p:cNvSpPr txBox="1"/>
          <p:nvPr/>
        </p:nvSpPr>
        <p:spPr>
          <a:xfrm>
            <a:off x="685800" y="3403599"/>
            <a:ext cx="9652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明确运行环境、构建选项、部署边界与操作步骤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03208E-6200-59E5-E009-110851D7A2BE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7617D4-08FC-199E-21FA-22B76691C93D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28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5F32E1-C690-E20F-657D-508D66A5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E38467-16E4-A2C9-B162-0024B1CA67F4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兼容性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28A5A1-B4F5-07EF-5367-144AFC7DFC7F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当前主路径是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Linux/Ubuntu + GTK + AT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，其他组合取决于构建与验证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6AC4D1-E326-B808-217D-B7C06AAED87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D4BEFE1-8038-A5B3-6D24-10D2E43F432E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E499D7-2FF1-C2AF-42C5-FB7DD0E9BB33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29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61A622-275B-C3EE-2B38-7FBBD236FDC0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“代码可编译”不等于“硬件与服务器组合已验证”，兼容性应分层表述。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B3C0FE1-5EE7-238F-4743-488AA73E5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3041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152854373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9630438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52376847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166256963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维度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主路径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可选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条件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9662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操作系统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Ubuntu/Linux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Windows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通过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WSL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显示需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WSLg/X Server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59736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规范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SGP.32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SGP.22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可编译选择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两者不可同时定义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3037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eUICC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驱动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AT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PCSC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构建项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当前真实主路径为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AT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92149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网络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HTTP/MQTT/LwM2M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可启用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依赖库与服务端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CMake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开关裁剪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20721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UI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GTK 3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无界面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应用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可脱离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Manager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集成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661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A3C7B1D-DD44-DBCE-63D9-DA618DC5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DF4788-D0B7-B140-7474-63F709B86E82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构建选项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2E267D-3A6A-42B3-2FB2-D8762AC7F4B0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CMake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特性开关决定最终二进制的协议与驱动组合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78297DD-D564-0735-D059-3ADF0660CA5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FC6F226-184B-DB46-B221-20EFA55DC559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D75064-650E-7AF2-EB53-CF4DC94D10D4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30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F51B4D-A30D-2D68-2C51-75398A65F1BA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部署包应记录构建参数，避免运行期才发现能力未编译。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50D2700-2477-2AF8-CBBB-586C0AA8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44038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376153287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411760383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4237833872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开关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特性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默认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现状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影响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24769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SGP32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默认开启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选择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SGP.32 ES10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TLV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定义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024637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SGP22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SGP32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互斥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选择另一套规范编译路径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318930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ENABLE_MQTT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开启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链接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MQTT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客户端实现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591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ENABLE_LWM2M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开启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包含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Wakaama/LwM2M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81316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ENABLE_HTTP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开启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链接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libcurl HTTP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0420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PCSC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默认关闭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启用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PC/SC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智能卡通道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556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290398F-B69F-C03F-4AC5-02490E2B4E7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831655ED-76A6-D9BF-8CD5-FD5291CC8030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091F3C57-3A70-FA0E-CC58-41366DF9A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6CC8DE65-65EA-B1FF-7F5C-983356AF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9B45E2-5F02-4199-A2A4-7CCAC56906BD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一键部署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0E35BA-BD19-E211-FC2D-DD047C246B63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quickstart.sh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将环境检查、依赖、构建与启动串成一条路径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D215B3D-6C6D-FA20-8DE2-852EA9625832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A4E8FEA-7F1D-8A56-8A67-F2A9AD6B96EF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9D680E-28F1-4F0C-44FC-6EE491621121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31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588753-3433-FAF3-C001-4D8A33C82580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生产环境建议把系统依赖安装与应用构建拆成可审计的两阶段。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DC1766A-04CB-B846-1E62-8375599CBCC9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D2CE05-0089-4FB6-7D3B-5EC09DD33C42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3ED9C2-22E1-D44C-D307-154810315B56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确认 </a:t>
            </a:r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Ubuntu/WSL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3A56B45-E270-23D6-73FB-7B6D08125A3C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0AE0639-D290-C606-01C9-566A18157A45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9FB1BB-5BC0-1A3B-FFFF-1C828A5A2582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1B00452-A7DA-B2A2-996F-B55DAB6CBC37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安装编译与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GTK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依赖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60C9C25-D228-942F-F39C-079B7704FBD7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E493B71-CAEB-BF2D-0D33-56540E3A5867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7B8474B-8847-56CC-01C6-B54A4B0E4382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65AA8B3-E7DB-1A77-CD94-1C9534D5E191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build_sdk.sh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6461F52-CA5B-60A8-ADE5-55A28FCC833E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D7F555A-180C-81E4-E984-26F3162CFDA6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34AE167-3190-4415-5359-1BDF7B991349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DB3C50A-00B1-9895-0315-56651EBF0178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产物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4E3CB9B-18E4-6B40-E94A-4C2E3C3DC0A0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48F1D99-617A-4203-B0F6-5D3CBF6DC332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386487E-E71B-CA53-7C98-DDB1D6288FE9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16F72BF-85AF-3121-FC8F-7F3C9C13BF9B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build_all.sh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4A780C7-D4CE-83D1-6783-E55C08FFC5AF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63FDFDB-7CCA-581C-9295-56F1532C6483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B899ABB-AAB7-B57E-2C88-C2764B2707EB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8A81D77-4AC7-09FA-E041-689A968E66CC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Manager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F1A447D1-E330-1ACF-DD4D-129FE9F01AC7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E469636-D9FE-2BF2-BD96-98F3E0EBD1B9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7F50067-02F1-F1E3-F5F8-7DFE0698452D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6FB6AD0-9AD5-8176-B88A-BBE57D127E45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写入配置并启动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6B1B99B-F10B-E431-8F0B-F1C8DEF4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11FE85-398C-4D79-5478-30B5CF371795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一键部署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E42856-E6D4-4828-5BA1-7B5C19070087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三个脚本承担不同粒度的自动化职责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84D9518-82F5-5833-CA4A-95E1E3849235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98A3AA-9FD9-AF5D-C17D-F9F59B577AA6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32DDA9-7C03-1C3D-517B-4A3773BA2F1A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32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0BCCBF-CF4E-5645-3F7C-09F8C207409D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使用前应检查执行权限、网络代理、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apt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源和硬件访问权限。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6789D1A-18A3-F905-E3C9-A1E2B854B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151456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366666635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87572308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872715000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脚本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用途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适用场景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5791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quickstart.sh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依赖准备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构建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快速启动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首次体验或开发环境初始化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33255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build_sdk.sh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单独配置和构建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ipa_sdk_pc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开发、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或独立集成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19042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build_all.sh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构建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ipad_host_app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完整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Manager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交付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93299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手工 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CMake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显式指定特性与目录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生产、交叉编译、问题定位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260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2D6845D-859D-3747-9D6C-C2D34523AA7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7695F7D7-7C90-0B1B-477D-0AE73B66B768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635024EA-1F34-DBCA-AFF5-0C81419A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FB012548-194B-51F7-2D2A-ECE1E007E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6CE6109-B652-0ABD-EB00-54AE12A9DB6E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使用说明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DCE602-5DF8-BA6C-4A6F-39C872D5089E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建议先验证只读链路，再启用控制和后台通信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4D62573-452F-D025-EE24-E5777033BCF0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8A28557-3BD4-5E96-3F4F-5451E15116FD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26D7A0-7ED8-4C59-0525-A2C1D3CA37E3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33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8D29ABA-F75F-DA7A-ABA2-0FF72A3A01DE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从低风险到高风险逐步验证，可更快区分设备、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SDK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和服务器问题。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48EF111-3D2C-D68C-D4EA-6AADA79B08B9}"/>
              </a:ext>
            </a:extLst>
          </p:cNvPr>
          <p:cNvSpPr/>
          <p:nvPr/>
        </p:nvSpPr>
        <p:spPr>
          <a:xfrm>
            <a:off x="685800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627773F-5E9A-D772-3F1C-76FBDD9BC656}"/>
              </a:ext>
            </a:extLst>
          </p:cNvPr>
          <p:cNvSpPr txBox="1"/>
          <p:nvPr/>
        </p:nvSpPr>
        <p:spPr>
          <a:xfrm>
            <a:off x="812800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A41C640-4D64-A4B4-8C91-8FB0CE0E2286}"/>
              </a:ext>
            </a:extLst>
          </p:cNvPr>
          <p:cNvSpPr txBox="1"/>
          <p:nvPr/>
        </p:nvSpPr>
        <p:spPr>
          <a:xfrm>
            <a:off x="812800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启动并检查日志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2E568BD-51F5-7C8A-C306-474E02BA5085}"/>
              </a:ext>
            </a:extLst>
          </p:cNvPr>
          <p:cNvCxnSpPr/>
          <p:nvPr/>
        </p:nvCxnSpPr>
        <p:spPr>
          <a:xfrm>
            <a:off x="2061029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C083200-BF0F-041A-DC7B-EDA9F3491DDB}"/>
              </a:ext>
            </a:extLst>
          </p:cNvPr>
          <p:cNvSpPr/>
          <p:nvPr/>
        </p:nvSpPr>
        <p:spPr>
          <a:xfrm>
            <a:off x="2264229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5A57354-7B28-D848-5F32-203AD72340A3}"/>
              </a:ext>
            </a:extLst>
          </p:cNvPr>
          <p:cNvSpPr txBox="1"/>
          <p:nvPr/>
        </p:nvSpPr>
        <p:spPr>
          <a:xfrm>
            <a:off x="2391229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B0992EB-7335-0C9B-AF79-268FB188F807}"/>
              </a:ext>
            </a:extLst>
          </p:cNvPr>
          <p:cNvSpPr txBox="1"/>
          <p:nvPr/>
        </p:nvSpPr>
        <p:spPr>
          <a:xfrm>
            <a:off x="2391229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EID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1534964-CCF2-1686-8754-1C91E290AF51}"/>
              </a:ext>
            </a:extLst>
          </p:cNvPr>
          <p:cNvCxnSpPr/>
          <p:nvPr/>
        </p:nvCxnSpPr>
        <p:spPr>
          <a:xfrm>
            <a:off x="3639457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BBB6758-E9B9-883D-906B-6A1C78067B6D}"/>
              </a:ext>
            </a:extLst>
          </p:cNvPr>
          <p:cNvSpPr/>
          <p:nvPr/>
        </p:nvSpPr>
        <p:spPr>
          <a:xfrm>
            <a:off x="3842657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1C6B38F-4C37-B4A2-5742-9E4AA24FAE56}"/>
              </a:ext>
            </a:extLst>
          </p:cNvPr>
          <p:cNvSpPr txBox="1"/>
          <p:nvPr/>
        </p:nvSpPr>
        <p:spPr>
          <a:xfrm>
            <a:off x="3969657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5B11F5E-26F5-ABED-9D47-3E8F25882C1B}"/>
              </a:ext>
            </a:extLst>
          </p:cNvPr>
          <p:cNvSpPr txBox="1"/>
          <p:nvPr/>
        </p:nvSpPr>
        <p:spPr>
          <a:xfrm>
            <a:off x="3969657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读取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EuiccInfo1/2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F785B0D-BF8A-A93E-EFE8-7BE3CC4B860C}"/>
              </a:ext>
            </a:extLst>
          </p:cNvPr>
          <p:cNvCxnSpPr/>
          <p:nvPr/>
        </p:nvCxnSpPr>
        <p:spPr>
          <a:xfrm>
            <a:off x="5217886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8179865-22DD-5D43-7467-CD7E91B92817}"/>
              </a:ext>
            </a:extLst>
          </p:cNvPr>
          <p:cNvSpPr/>
          <p:nvPr/>
        </p:nvSpPr>
        <p:spPr>
          <a:xfrm>
            <a:off x="5421086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0A420FB-DF1D-2E75-3846-446B5AC6AC2B}"/>
              </a:ext>
            </a:extLst>
          </p:cNvPr>
          <p:cNvSpPr txBox="1"/>
          <p:nvPr/>
        </p:nvSpPr>
        <p:spPr>
          <a:xfrm>
            <a:off x="5548086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80C041-5193-5501-5B79-D73BC8DC3BBE}"/>
              </a:ext>
            </a:extLst>
          </p:cNvPr>
          <p:cNvSpPr txBox="1"/>
          <p:nvPr/>
        </p:nvSpPr>
        <p:spPr>
          <a:xfrm>
            <a:off x="5548086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查看证书与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Profile</a:t>
            </a:r>
            <a:endParaRPr lang="zh-CN" altLang="en-US" sz="1000" b="1">
              <a:solidFill>
                <a:srgbClr val="14171A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DC8E818-52C6-2499-59A7-F701A351F1B5}"/>
              </a:ext>
            </a:extLst>
          </p:cNvPr>
          <p:cNvCxnSpPr/>
          <p:nvPr/>
        </p:nvCxnSpPr>
        <p:spPr>
          <a:xfrm>
            <a:off x="6796315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F61CE91-4F4F-E48A-BF3B-B464ECC4D48C}"/>
              </a:ext>
            </a:extLst>
          </p:cNvPr>
          <p:cNvSpPr/>
          <p:nvPr/>
        </p:nvSpPr>
        <p:spPr>
          <a:xfrm>
            <a:off x="6999515" y="2895600"/>
            <a:ext cx="1349828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49828CF-E10A-5591-E3CA-CF6FD364E5DB}"/>
              </a:ext>
            </a:extLst>
          </p:cNvPr>
          <p:cNvSpPr txBox="1"/>
          <p:nvPr/>
        </p:nvSpPr>
        <p:spPr>
          <a:xfrm>
            <a:off x="7126515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4A1D93B-EFFD-36FC-3FE1-CC9C17E4D719}"/>
              </a:ext>
            </a:extLst>
          </p:cNvPr>
          <p:cNvSpPr txBox="1"/>
          <p:nvPr/>
        </p:nvSpPr>
        <p:spPr>
          <a:xfrm>
            <a:off x="7126515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验证 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配置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E2015D7-79D8-22EB-6603-EFC0FBEF057E}"/>
              </a:ext>
            </a:extLst>
          </p:cNvPr>
          <p:cNvCxnSpPr/>
          <p:nvPr/>
        </p:nvCxnSpPr>
        <p:spPr>
          <a:xfrm>
            <a:off x="8374743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2342A8C-BB48-FF52-4557-1DE1E71E7B23}"/>
              </a:ext>
            </a:extLst>
          </p:cNvPr>
          <p:cNvSpPr/>
          <p:nvPr/>
        </p:nvSpPr>
        <p:spPr>
          <a:xfrm>
            <a:off x="8577943" y="2895600"/>
            <a:ext cx="1349829" cy="14224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4DBA78F-7B01-72A2-742E-431755D2E37D}"/>
              </a:ext>
            </a:extLst>
          </p:cNvPr>
          <p:cNvSpPr txBox="1"/>
          <p:nvPr/>
        </p:nvSpPr>
        <p:spPr>
          <a:xfrm>
            <a:off x="8704943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A54BEF5-CD31-82A1-8AC3-50D198C80B27}"/>
              </a:ext>
            </a:extLst>
          </p:cNvPr>
          <p:cNvSpPr txBox="1"/>
          <p:nvPr/>
        </p:nvSpPr>
        <p:spPr>
          <a:xfrm>
            <a:off x="8704943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测试通知</a:t>
            </a:r>
            <a:r>
              <a:rPr lang="en-US" altLang="zh-CN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14171A"/>
                </a:solidFill>
                <a:latin typeface="Microsoft YaHei" panose="020B0503020204020204" pitchFamily="34" charset="-122"/>
              </a:rPr>
              <a:t>应急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E02BB7B-5AE7-D1BF-4120-C4EF5DF3A480}"/>
              </a:ext>
            </a:extLst>
          </p:cNvPr>
          <p:cNvCxnSpPr/>
          <p:nvPr/>
        </p:nvCxnSpPr>
        <p:spPr>
          <a:xfrm>
            <a:off x="9953172" y="3606800"/>
            <a:ext cx="177800" cy="0"/>
          </a:xfrm>
          <a:prstGeom prst="line">
            <a:avLst/>
          </a:prstGeom>
          <a:ln w="19050">
            <a:solidFill>
              <a:srgbClr val="2457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E3843880-BAAA-A37D-A26E-25BAB6ACAAF6}"/>
              </a:ext>
            </a:extLst>
          </p:cNvPr>
          <p:cNvSpPr/>
          <p:nvPr/>
        </p:nvSpPr>
        <p:spPr>
          <a:xfrm>
            <a:off x="10156372" y="2895600"/>
            <a:ext cx="1349828" cy="1422400"/>
          </a:xfrm>
          <a:prstGeom prst="round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D0E0595-7598-353B-6B01-3AD9B502A61E}"/>
              </a:ext>
            </a:extLst>
          </p:cNvPr>
          <p:cNvSpPr txBox="1"/>
          <p:nvPr/>
        </p:nvSpPr>
        <p:spPr>
          <a:xfrm>
            <a:off x="10283372" y="3022600"/>
            <a:ext cx="40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B70C7B3-1D31-751E-1829-77041DAEB16B}"/>
              </a:ext>
            </a:extLst>
          </p:cNvPr>
          <p:cNvSpPr txBox="1"/>
          <p:nvPr/>
        </p:nvSpPr>
        <p:spPr>
          <a:xfrm>
            <a:off x="10283372" y="3378199"/>
            <a:ext cx="1095829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配置并启动网络服务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EE4E584-C9A0-C995-B0F0-A7F928CA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DA875F-FF55-F242-03AF-D590E39F2189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使用说明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645539-236B-1372-A1FD-DDA4104DCF1E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日常操作可归纳为四个工作台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CFBC037-3038-1B23-F432-A0D82512A994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1950E86-E082-7055-497D-A77DDB9AD673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5EE73B-FB46-98EC-0E00-CAEB2D7DD360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34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F8602A-71F5-0769-4525-A7A56253C22F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不同工作台使用一致的状态、日志和刷新习惯。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4CD3180-FD11-6E20-2406-346C494FB763}"/>
              </a:ext>
            </a:extLst>
          </p:cNvPr>
          <p:cNvSpPr/>
          <p:nvPr/>
        </p:nvSpPr>
        <p:spPr>
          <a:xfrm>
            <a:off x="6858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C4050E2-790B-5D65-4A2E-538DFA09AECF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3AFD55-92B3-84F2-BAD3-E5147B716E71}"/>
              </a:ext>
            </a:extLst>
          </p:cNvPr>
          <p:cNvSpPr txBox="1"/>
          <p:nvPr/>
        </p:nvSpPr>
        <p:spPr>
          <a:xfrm>
            <a:off x="8890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设备信息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2FAAF6-BF64-AC45-8E79-6BD0E0786992}"/>
              </a:ext>
            </a:extLst>
          </p:cNvPr>
          <p:cNvSpPr txBox="1"/>
          <p:nvPr/>
        </p:nvSpPr>
        <p:spPr>
          <a:xfrm>
            <a:off x="8890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确认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EID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能力和证书状态。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C6F6DE6-BDD7-8B24-6215-F4119AC98456}"/>
              </a:ext>
            </a:extLst>
          </p:cNvPr>
          <p:cNvSpPr/>
          <p:nvPr/>
        </p:nvSpPr>
        <p:spPr>
          <a:xfrm>
            <a:off x="61722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E859E6-9300-5DD4-9511-25B5E940D501}"/>
              </a:ext>
            </a:extLst>
          </p:cNvPr>
          <p:cNvSpPr/>
          <p:nvPr/>
        </p:nvSpPr>
        <p:spPr>
          <a:xfrm>
            <a:off x="61722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8DEC52D-58B1-3613-0B41-AD706998B8D2}"/>
              </a:ext>
            </a:extLst>
          </p:cNvPr>
          <p:cNvSpPr txBox="1"/>
          <p:nvPr/>
        </p:nvSpPr>
        <p:spPr>
          <a:xfrm>
            <a:off x="63754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视图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4AB45DE7-BEE1-6DB4-37D0-E4572D37C7E0}"/>
              </a:ext>
            </a:extLst>
          </p:cNvPr>
          <p:cNvSpPr txBox="1"/>
          <p:nvPr/>
        </p:nvSpPr>
        <p:spPr>
          <a:xfrm>
            <a:off x="63754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查看已安装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与状态；当前不执行下载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启停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删除。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5E889F53-A164-209A-6C5E-676403790A18}"/>
              </a:ext>
            </a:extLst>
          </p:cNvPr>
          <p:cNvSpPr/>
          <p:nvPr/>
        </p:nvSpPr>
        <p:spPr>
          <a:xfrm>
            <a:off x="6858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4008FBB6-5D26-42FE-4480-E3A4EB6AA273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8DB459F7-5E30-E392-CDF4-DCE2E1D476BD}"/>
              </a:ext>
            </a:extLst>
          </p:cNvPr>
          <p:cNvSpPr txBox="1"/>
          <p:nvPr/>
        </p:nvSpPr>
        <p:spPr>
          <a:xfrm>
            <a:off x="8890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通知与策略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583A8B66-D02E-2803-4C03-284A68AB4168}"/>
              </a:ext>
            </a:extLst>
          </p:cNvPr>
          <p:cNvSpPr txBox="1"/>
          <p:nvPr/>
        </p:nvSpPr>
        <p:spPr>
          <a:xfrm>
            <a:off x="8890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投递通知、执行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、管理应急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E643914E-46B4-5DB0-4E90-A4794D4AA410}"/>
              </a:ext>
            </a:extLst>
          </p:cNvPr>
          <p:cNvSpPr/>
          <p:nvPr/>
        </p:nvSpPr>
        <p:spPr>
          <a:xfrm>
            <a:off x="61722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D402E9FB-4CFA-5525-3C08-385B04EE96FD}"/>
              </a:ext>
            </a:extLst>
          </p:cNvPr>
          <p:cNvSpPr/>
          <p:nvPr/>
        </p:nvSpPr>
        <p:spPr>
          <a:xfrm>
            <a:off x="61722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A5809C27-3F16-DE62-62A6-E57F373502E8}"/>
              </a:ext>
            </a:extLst>
          </p:cNvPr>
          <p:cNvSpPr txBox="1"/>
          <p:nvPr/>
        </p:nvSpPr>
        <p:spPr>
          <a:xfrm>
            <a:off x="63754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连接与日志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E5B65A15-19F0-D29A-E1E3-68E9D32FAED9}"/>
              </a:ext>
            </a:extLst>
          </p:cNvPr>
          <p:cNvSpPr txBox="1"/>
          <p:nvPr/>
        </p:nvSpPr>
        <p:spPr>
          <a:xfrm>
            <a:off x="63754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配置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协议、观察后台状态、停止服务、导出诊断。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22193D4-3BBB-9CDF-3AD7-81B1B3DC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0E6995-0C5A-E776-9614-B3D35297DD86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故障排查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3216E9-71B2-BF06-16EE-44319983F3AD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排障应按环境、设备、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、协议、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五层逐级收敛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409C28F-7610-C933-EBA1-B076231BA3D0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BE855E8-2ACE-2866-2FC7-3103501E1784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CC83A3-21D3-34C0-FB59-999E36CBAA52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35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18BE52-F1D1-FC58-954C-AF42FD270AD0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先确认最底层可用，再检查上层表现，避免把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错误直接归因于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eUICC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188B379-0307-525F-955A-48AD7C2A6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593612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947558807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859382605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817006887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现象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优先检查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下一步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72080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WSL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无发行版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以真实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Windows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用户执行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wsl --list --verbose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确认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Ubuntu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已注册并显式指定发行版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2346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无法显示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WSLg/DISPLAY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GTK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依赖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用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 CLI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验证非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路径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540576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EID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查询失败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串口、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AT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驱动、权限、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eUICC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响应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开启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APDU/AT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日志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43367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网络服务失败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URL/Broker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DNS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、证书、端口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分离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TLS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与协议握手问题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88649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退出卡住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崩溃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后台线程和配置生命周期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先停止服务再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deinit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94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782036B-E6A1-7673-7A11-26A31BEC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36C814-EAE8-8B87-C426-4D96F8ABDF8C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安全与生产化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D96EF9-D71B-7569-CA36-43C1AB171E43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从开发工具走向生产部署，需要补强证书、权限、日志与升级机制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198AA6-2856-50EF-7EA1-9C887389F90E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100F755-5571-4B49-9041-4EEF6DC13D7F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96C593-CC7E-9D40-DCE5-B546B5F2E520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36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B6B0AC-A3D0-6794-063B-43D97F4832AE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底层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HTTP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实现中存在证书验证待完善痕迹，生产使用必须完成安全审查。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C4757FB-58DC-DA16-E03F-C0F10539B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921740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10261264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850637028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593818533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领域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当前关注点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生产要求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29147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TLS/DTLS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证书路径和验证链需核验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默认开启主机名与对端证书验证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445385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设备权限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串口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/PCSC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访问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最小权限用户、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udev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规则、审计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33787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敏感日志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EID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Profile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、证书、服务器信息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脱敏、分级、轮转和访问控制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17456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配置密钥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用户名密码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证书路径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不明文入库，使用安全存储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3538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升级回滚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脚本式部署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版本化产物、兼容性清单、可回退包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12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220F31F1-EC41-AAC0-3430-27E4DC4D74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9DFB6F80-916A-8A2E-0036-187D0969DF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9075CE-7EBB-ABC2-EE19-DF0BAB766318}"/>
              </a:ext>
            </a:extLst>
          </p:cNvPr>
          <p:cNvSpPr txBox="1"/>
          <p:nvPr/>
        </p:nvSpPr>
        <p:spPr>
          <a:xfrm>
            <a:off x="685800" y="736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状态与路线图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F2189A-376B-F4F4-8277-F81736FE65E9}"/>
              </a:ext>
            </a:extLst>
          </p:cNvPr>
          <p:cNvSpPr txBox="1"/>
          <p:nvPr/>
        </p:nvSpPr>
        <p:spPr>
          <a:xfrm>
            <a:off x="685800" y="1879599"/>
            <a:ext cx="10414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第四部分｜成熟度、风险与演进路线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855F74F-53C6-2891-638A-5FD47B8D7F46}"/>
              </a:ext>
            </a:extLst>
          </p:cNvPr>
          <p:cNvCxnSpPr/>
          <p:nvPr/>
        </p:nvCxnSpPr>
        <p:spPr>
          <a:xfrm>
            <a:off x="685800" y="30226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6A0D885-E1E9-DFCF-DFB3-5318A6C00F87}"/>
              </a:ext>
            </a:extLst>
          </p:cNvPr>
          <p:cNvSpPr txBox="1"/>
          <p:nvPr/>
        </p:nvSpPr>
        <p:spPr>
          <a:xfrm>
            <a:off x="685800" y="3403599"/>
            <a:ext cx="9652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把真实能力、接入缺口与后续设计建议放在同一张地图上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9AE0ED-E5B4-AA99-FCFD-AC7577E544B7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DD6F5A2-2B64-47F0-969D-459AA2F34BC2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37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D1087D7-4BA8-7BBD-8BB0-7E2AD9FC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87EFA6-E790-D65B-9E80-C580E2A7E942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成熟度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364CDB-6FFF-9035-EB46-783D5A009EEC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当前最成熟的是只读查询与基础控制，最薄弱的是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生命周期闭环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61CC5F0-C650-E89E-510D-D6D3E0F7451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7B8297D-FD7C-170C-0B35-104533B080DD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8771C8-9D5C-A418-D8F0-519A3DF4622D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38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9EE57A-5F84-6A86-9CA9-76F55B5AEA69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成熟度来自代码路径核验，不代表所有硬件、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SM-DP+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环境均已完成系统验证。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FC8A336-9F0C-3CDF-7082-D35C45C346CE}"/>
              </a:ext>
            </a:extLst>
          </p:cNvPr>
          <p:cNvSpPr/>
          <p:nvPr/>
        </p:nvSpPr>
        <p:spPr>
          <a:xfrm>
            <a:off x="6858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1806B5-2FCF-5A8E-323C-B0B473F2BFD5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517D7B-650C-FAEE-3603-41528BDC97F5}"/>
              </a:ext>
            </a:extLst>
          </p:cNvPr>
          <p:cNvSpPr txBox="1"/>
          <p:nvPr/>
        </p:nvSpPr>
        <p:spPr>
          <a:xfrm>
            <a:off x="8890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可演示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0E864A-6E35-AF09-CDC8-13471261B8AF}"/>
              </a:ext>
            </a:extLst>
          </p:cNvPr>
          <p:cNvSpPr txBox="1"/>
          <p:nvPr/>
        </p:nvSpPr>
        <p:spPr>
          <a:xfrm>
            <a:off x="8890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EID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信息、证书、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列表、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EIM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配置、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、应急、批量通知。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B7C3A96-EB09-C2D9-F66C-9B5E1A0C3E1D}"/>
              </a:ext>
            </a:extLst>
          </p:cNvPr>
          <p:cNvSpPr/>
          <p:nvPr/>
        </p:nvSpPr>
        <p:spPr>
          <a:xfrm>
            <a:off x="6172200" y="21844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61C8FD-7B83-E2E6-D7C7-0C23EA32C885}"/>
              </a:ext>
            </a:extLst>
          </p:cNvPr>
          <p:cNvSpPr/>
          <p:nvPr/>
        </p:nvSpPr>
        <p:spPr>
          <a:xfrm>
            <a:off x="61722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779E46-49C2-100A-008D-2813A16664F6}"/>
              </a:ext>
            </a:extLst>
          </p:cNvPr>
          <p:cNvSpPr txBox="1"/>
          <p:nvPr/>
        </p:nvSpPr>
        <p:spPr>
          <a:xfrm>
            <a:off x="6375400" y="23621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需接线</a:t>
            </a: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BBF1579B-77F6-69CA-B879-25A4BE80DA69}"/>
              </a:ext>
            </a:extLst>
          </p:cNvPr>
          <p:cNvSpPr txBox="1"/>
          <p:nvPr/>
        </p:nvSpPr>
        <p:spPr>
          <a:xfrm>
            <a:off x="6375400" y="27431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MQTT/LwM2M/HTTP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参数、单条通知、配置文件实际应用、状态回调展示。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D2BDCAE7-4CD8-4307-6CE7-22B2D1436F14}"/>
              </a:ext>
            </a:extLst>
          </p:cNvPr>
          <p:cNvSpPr/>
          <p:nvPr/>
        </p:nvSpPr>
        <p:spPr>
          <a:xfrm>
            <a:off x="6858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82C2773E-6141-6A6B-2BDB-92C0ACF7924D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94B82663-04F1-AC09-73C4-BE689CBBF8F0}"/>
              </a:ext>
            </a:extLst>
          </p:cNvPr>
          <p:cNvSpPr txBox="1"/>
          <p:nvPr/>
        </p:nvSpPr>
        <p:spPr>
          <a:xfrm>
            <a:off x="8890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未完成</a:t>
            </a: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A534AE03-9194-2C9E-6A05-1063B287FE67}"/>
              </a:ext>
            </a:extLst>
          </p:cNvPr>
          <p:cNvSpPr txBox="1"/>
          <p:nvPr/>
        </p:nvSpPr>
        <p:spPr>
          <a:xfrm>
            <a:off x="8890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下载、启用、禁用、删除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当前返回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eNotImpl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78DCE0DC-F26A-6BD5-08FB-793F6F850CD5}"/>
              </a:ext>
            </a:extLst>
          </p:cNvPr>
          <p:cNvSpPr/>
          <p:nvPr/>
        </p:nvSpPr>
        <p:spPr>
          <a:xfrm>
            <a:off x="6172200" y="4229100"/>
            <a:ext cx="53340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D95A9CA9-4A80-B8C1-D74B-AFDEAA4414A9}"/>
              </a:ext>
            </a:extLst>
          </p:cNvPr>
          <p:cNvSpPr/>
          <p:nvPr/>
        </p:nvSpPr>
        <p:spPr>
          <a:xfrm>
            <a:off x="61722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4750D070-5587-9A5B-B005-C3DAE22D8DAB}"/>
              </a:ext>
            </a:extLst>
          </p:cNvPr>
          <p:cNvSpPr txBox="1"/>
          <p:nvPr/>
        </p:nvSpPr>
        <p:spPr>
          <a:xfrm>
            <a:off x="6375400" y="4406899"/>
            <a:ext cx="4978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需加固</a:t>
            </a: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E01A21CE-0BEA-A2CC-C487-12889DFAAC6B}"/>
              </a:ext>
            </a:extLst>
          </p:cNvPr>
          <p:cNvSpPr txBox="1"/>
          <p:nvPr/>
        </p:nvSpPr>
        <p:spPr>
          <a:xfrm>
            <a:off x="6375400" y="4787899"/>
            <a:ext cx="4978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线程生命周期、初始化状态、内存释放、证书验证和类型安全分发。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0A0332F-D0D2-F9EA-53F9-DA026EA4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8D4D4-ECB6-5A69-D3EE-F9EDDE4B028D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文档一致性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6DEDCA-A66A-7B8A-0460-444C77AC7F38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发布说明与当前代码存在差异，交付口径应以代码为准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7F37223-996B-DA9F-14BC-A5E565D4C310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7349D0B-207C-99E2-9354-96CD42EB2B0B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7722BB-5ACB-83E2-A5CC-8A015CB6E011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39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438BD2-3313-1988-BBF6-6E05F9F33344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例如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v1.1.0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管理列为完成，但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README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、开发总结和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实现表明仍为占位。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8AE1F76-E882-F3C3-FECB-CBE8BA13C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643820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61033207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643536585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18042147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235810782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主题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历史表述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当前代码事实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对外口径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22367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Profile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管理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发布说明标记完成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返回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eNotImpl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未交付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910916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网络协议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发布说明标记连接完成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底层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/Wrapper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存在，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参数链不完整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集成中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6409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配置体系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文档描述较完整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解析存在，应用链仍有缺口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基础可用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48766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兼容性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Linux/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协议能力描述广泛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AT + Ubuntu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为主验证路径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按验证矩阵声明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44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471D339-0580-BF6C-26F0-B9631C4F8B1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DEA52B9D-74F1-6311-AD0C-8ADEC5CF5EAC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E75428-5089-AAB7-CA24-782FCBEB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0D5F11A6-CB47-9D54-9A42-587903A27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223016-C768-BC8B-0B71-039B2DA3F1B1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路线图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1C8D3B-8BF6-61B8-151B-4D33CAE1DF38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建议用三个阶段把“可运行”推进到“可交付、可运维”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CD7F142-4C76-1DA5-B579-4A1822A6280C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78366A9-6E35-1C47-72F0-859556561547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0CD9FD-3AB4-609E-F565-4D3E1692625D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40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1CF9673-8A4B-B6D9-19DD-AECCE5D57932}"/>
              </a:ext>
            </a:extLst>
          </p:cNvPr>
          <p:cNvCxnSpPr/>
          <p:nvPr/>
        </p:nvCxnSpPr>
        <p:spPr>
          <a:xfrm>
            <a:off x="1524000" y="3098800"/>
            <a:ext cx="9144000" cy="0"/>
          </a:xfrm>
          <a:prstGeom prst="line">
            <a:avLst/>
          </a:prstGeom>
          <a:ln w="38100">
            <a:solidFill>
              <a:srgbClr val="2457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09902C99-3C3F-FC56-042E-B9618E336A67}"/>
              </a:ext>
            </a:extLst>
          </p:cNvPr>
          <p:cNvSpPr/>
          <p:nvPr/>
        </p:nvSpPr>
        <p:spPr>
          <a:xfrm>
            <a:off x="1651000" y="2971800"/>
            <a:ext cx="254000" cy="254000"/>
          </a:xfrm>
          <a:prstGeom prst="ellipse">
            <a:avLst/>
          </a:prstGeom>
          <a:solidFill>
            <a:srgbClr val="2457D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EFB7244-1F7D-8D6A-A22B-69D4F0C4C6E9}"/>
              </a:ext>
            </a:extLst>
          </p:cNvPr>
          <p:cNvSpPr txBox="1"/>
          <p:nvPr/>
        </p:nvSpPr>
        <p:spPr>
          <a:xfrm>
            <a:off x="660400" y="1930399"/>
            <a:ext cx="2235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阶段 </a:t>
            </a:r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｜闭环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98C53CE-8C7B-6902-D406-D4C392C99F25}"/>
              </a:ext>
            </a:extLst>
          </p:cNvPr>
          <p:cNvSpPr/>
          <p:nvPr/>
        </p:nvSpPr>
        <p:spPr>
          <a:xfrm>
            <a:off x="406400" y="3530600"/>
            <a:ext cx="2743200" cy="1625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53EAF67-ED86-5535-1EF7-E03A131CEF79}"/>
              </a:ext>
            </a:extLst>
          </p:cNvPr>
          <p:cNvSpPr txBox="1"/>
          <p:nvPr/>
        </p:nvSpPr>
        <p:spPr>
          <a:xfrm>
            <a:off x="609600" y="3759199"/>
            <a:ext cx="23368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管理、单条通知、网络参数和配置应用；建立真实初始化状态。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493EC35-F038-C9D5-0FA4-D4D18520DA93}"/>
              </a:ext>
            </a:extLst>
          </p:cNvPr>
          <p:cNvSpPr/>
          <p:nvPr/>
        </p:nvSpPr>
        <p:spPr>
          <a:xfrm>
            <a:off x="5842000" y="2971800"/>
            <a:ext cx="254000" cy="254000"/>
          </a:xfrm>
          <a:prstGeom prst="ellipse">
            <a:avLst/>
          </a:prstGeom>
          <a:solidFill>
            <a:srgbClr val="2457D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9D2397E-88EA-109A-543F-8670716E9AB8}"/>
              </a:ext>
            </a:extLst>
          </p:cNvPr>
          <p:cNvSpPr txBox="1"/>
          <p:nvPr/>
        </p:nvSpPr>
        <p:spPr>
          <a:xfrm>
            <a:off x="4851400" y="1930399"/>
            <a:ext cx="2235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阶段 </a:t>
            </a:r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｜加固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90EEDFD-0D89-CD82-69E8-C5FB1AF44ADB}"/>
              </a:ext>
            </a:extLst>
          </p:cNvPr>
          <p:cNvSpPr/>
          <p:nvPr/>
        </p:nvSpPr>
        <p:spPr>
          <a:xfrm>
            <a:off x="4597400" y="3530600"/>
            <a:ext cx="2743200" cy="1625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51FE8F9-7C29-AA1A-E4E3-959C1C4B6DC6}"/>
              </a:ext>
            </a:extLst>
          </p:cNvPr>
          <p:cNvSpPr txBox="1"/>
          <p:nvPr/>
        </p:nvSpPr>
        <p:spPr>
          <a:xfrm>
            <a:off x="4800600" y="3759199"/>
            <a:ext cx="23368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治理线程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内存、错误模型、证书验证、日志脱敏和自动化测试。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1CC3818-DD5C-EE38-65BD-41F5C0E328A0}"/>
              </a:ext>
            </a:extLst>
          </p:cNvPr>
          <p:cNvSpPr/>
          <p:nvPr/>
        </p:nvSpPr>
        <p:spPr>
          <a:xfrm>
            <a:off x="10033000" y="2971800"/>
            <a:ext cx="254000" cy="254000"/>
          </a:xfrm>
          <a:prstGeom prst="ellipse">
            <a:avLst/>
          </a:prstGeom>
          <a:solidFill>
            <a:srgbClr val="2457D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C5B4A80-CE85-4E04-C042-E03934E8AF2A}"/>
              </a:ext>
            </a:extLst>
          </p:cNvPr>
          <p:cNvSpPr txBox="1"/>
          <p:nvPr/>
        </p:nvSpPr>
        <p:spPr>
          <a:xfrm>
            <a:off x="9042400" y="1930399"/>
            <a:ext cx="22352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阶段 </a:t>
            </a:r>
            <a:r>
              <a:rPr lang="en-US" altLang="zh-CN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400" b="1">
                <a:solidFill>
                  <a:srgbClr val="2457D6"/>
                </a:solidFill>
                <a:latin typeface="Microsoft YaHei" panose="020B0503020204020204" pitchFamily="34" charset="-122"/>
              </a:rPr>
              <a:t>｜平台化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6A6174A-53BC-6A59-5742-593B217D2B48}"/>
              </a:ext>
            </a:extLst>
          </p:cNvPr>
          <p:cNvSpPr/>
          <p:nvPr/>
        </p:nvSpPr>
        <p:spPr>
          <a:xfrm>
            <a:off x="8788400" y="3530600"/>
            <a:ext cx="2743200" cy="16256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539A8A6-FDC5-9718-19A3-9E0A86158ACC}"/>
              </a:ext>
            </a:extLst>
          </p:cNvPr>
          <p:cNvSpPr txBox="1"/>
          <p:nvPr/>
        </p:nvSpPr>
        <p:spPr>
          <a:xfrm>
            <a:off x="8991600" y="3759199"/>
            <a:ext cx="23368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命令注册表、</a:t>
            </a:r>
            <a:r>
              <a:rPr lang="en-US" altLang="zh-CN" sz="1000">
                <a:solidFill>
                  <a:srgbClr val="14171A"/>
                </a:solidFill>
                <a:latin typeface="Microsoft YaHei" panose="020B0503020204020204" pitchFamily="34" charset="-122"/>
              </a:rPr>
              <a:t>daemon/worker</a:t>
            </a:r>
            <a:r>
              <a:rPr lang="zh-CN" altLang="en-US" sz="1000">
                <a:solidFill>
                  <a:srgbClr val="14171A"/>
                </a:solidFill>
                <a:latin typeface="Microsoft YaHei" panose="020B0503020204020204" pitchFamily="34" charset="-122"/>
              </a:rPr>
              <a:t>、远程管理、可观测性与多驱动扩展。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5B1C92B-997D-F663-1451-4E76BE84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1646D2-F0F8-9B35-3E4A-18470065F7DB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裁剪指南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E58190-DDA9-8B63-CA1C-377266CD000D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同一母版可按受众保留不同深度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AE51F97-159A-3A26-EE05-4EB83C1D16C6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ED4385D-4809-6C3D-97EF-B28F7C8819E8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06A277-80E4-DD01-F41F-A44DDFFCC25A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41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3F8D63-A104-79F5-4E2A-E6F47F03F0E3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页脚受众标签用于快速筛选；附录默认只在研发评审中保留。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8BDEE99-9ACF-FC6D-D159-79B4A0F22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724126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404008579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729614345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540990154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版本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建议保留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建议隐藏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374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管理层版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执行摘要、产品全景、成熟度、风险、路线图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接口签名、构建细节、完整附录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4464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客户版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能力、场景、兼容性、部署、使用、边界、安全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内部代码风险与底层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API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索引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09636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研发版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全稿，重点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Manager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、部署与附录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可仅隐藏管理层重复摘要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47161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售前短版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封面、摘要、全景、能力地图、兼容性、部署、总结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实现细节和风险页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99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3ACAEBA5-175C-0B05-9C59-AA5B5A5912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12789D9A-EBFF-E305-0EA1-951CC701B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0B3EE4-1208-75BA-714B-316472A49F8D}"/>
              </a:ext>
            </a:extLst>
          </p:cNvPr>
          <p:cNvSpPr txBox="1"/>
          <p:nvPr/>
        </p:nvSpPr>
        <p:spPr>
          <a:xfrm>
            <a:off x="685800" y="736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附录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EED472-94F1-AECD-DD52-02B9491E0E84}"/>
              </a:ext>
            </a:extLst>
          </p:cNvPr>
          <p:cNvSpPr txBox="1"/>
          <p:nvPr/>
        </p:nvSpPr>
        <p:spPr>
          <a:xfrm>
            <a:off x="685800" y="1879599"/>
            <a:ext cx="10414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457D6"/>
                </a:solidFill>
                <a:latin typeface="Microsoft YaHei" panose="020B0503020204020204" pitchFamily="34" charset="-122"/>
              </a:rPr>
              <a:t>技术附录｜接口、配置、构建与术语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2F1A6CD-128D-371B-F455-7840A86B322B}"/>
              </a:ext>
            </a:extLst>
          </p:cNvPr>
          <p:cNvCxnSpPr/>
          <p:nvPr/>
        </p:nvCxnSpPr>
        <p:spPr>
          <a:xfrm>
            <a:off x="685800" y="30226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12BBF1D-BE01-2356-B4F7-F85E00904EB4}"/>
              </a:ext>
            </a:extLst>
          </p:cNvPr>
          <p:cNvSpPr txBox="1"/>
          <p:nvPr/>
        </p:nvSpPr>
        <p:spPr>
          <a:xfrm>
            <a:off x="685800" y="3403599"/>
            <a:ext cx="9652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用于研发交接、技术评审和问题定位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07B720-9196-3D3F-787B-47CFFCA83B50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936CCD-7DC6-0F39-4FB8-8AF6666E9535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42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E6107B4-59E6-E595-7A44-092CFD3D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6D5C04-9716-F427-F490-6FEE9919EC56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附录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7D58FF-BE8A-DF97-2732-84A5A3F07B17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公开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 API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索引｜生命周期与查询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45D0641-01A5-C556-DC94-E0233F95BA32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2C936D0-3826-6E7F-BA17-5A2771E96817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36D022-C511-A8A4-AC82-D66AE2DC1D9E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43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04721C-72CF-BDAD-13D4-2D5589F72827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签名以头文件为准；表中强调调用目的和释放责任。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57F174A-97F0-69A9-ECCB-4A22974FD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311426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196185481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272212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523888096"/>
                    </a:ext>
                  </a:extLst>
                </a:gridCol>
              </a:tblGrid>
              <a:tr h="437444"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API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资源</a:t>
                      </a:r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注意事项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118421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ipa_init_library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初始化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传入配置和事件回调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642223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ipa_deinit_library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释放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SDK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先停止后台服务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3254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ipa_register_task_callbacks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注册任务创建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结束回调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可传默认实现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35626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ipa__get_eid_cstring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读取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EID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调用方提供缓冲区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3649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ipa__get_euicc_info_1/2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读取能力信息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使用对应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free API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34332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ipa__get_certs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读取证书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/PKID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使用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ipa__free_certs_data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530784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ipa__get_all_profiles_info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读取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Profile </a:t>
                      </a:r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数组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明确数组与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raw TLV </a:t>
                      </a:r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所有权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256643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ipa__get_eim_configuration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读取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EIM </a:t>
                      </a:r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配置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处理响应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TLV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240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1806A99-8926-30E0-6FDA-46ADEE186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805F01-C0A4-2376-4525-F5065F9C233F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附录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400014-AD21-8E1F-04AE-AC9E5834E908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公开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 API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索引｜控制、通知与本地命令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27987FA-FDF1-49F2-830A-A42BF31C1E41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A7BFBC3-468E-D699-6D1B-6E6A82C6F82C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57C579-5046-FAAB-7262-515F94DEF75E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44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1A3865-EA98-B422-8F4A-2D0050EAC13E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控制类接口应增加确认、状态刷新和错误上下文。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97BB5EB-D36E-0553-1DD1-559B475BF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10634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384891629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20983614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752889901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API </a:t>
                      </a:r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组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代表入口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1366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Fallback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ipa__execute_fallback_mechanism / ipa__return_from_fallback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切换与返回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373058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Rollback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ipa__execute_profile_rollback_result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上报回滚结果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49846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Emergency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ipa__enable_emergency_profile / disable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应急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Profile </a:t>
                      </a:r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控制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68132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Notifications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all / seq_number_single / remove / remove_all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投递与清理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6551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Local commands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set_default_dp_address / add_initial_eim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本地配置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50458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Memory reset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ipa_local__euicc_memory_reset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高风险动作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15428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lang="en-US" altLang="zh-CN" sz="8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Immediate enabling</a:t>
                      </a:r>
                      <a:endParaRPr lang="zh-CN" altLang="en-US" sz="8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configure_immediate_profile_enabling</a:t>
                      </a:r>
                      <a:endParaRPr lang="zh-CN" altLang="en-US" sz="8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受 </a:t>
                      </a:r>
                      <a:r>
                        <a:rPr lang="en-US" altLang="zh-CN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SGP.32 </a:t>
                      </a:r>
                      <a:r>
                        <a:rPr lang="zh-CN" altLang="en-US" sz="8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特性控制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638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5056985-D724-ED76-7F85-6B1584F2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D8ED3A-6527-E106-EED6-68133081BE5B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附录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BAA558-3B94-62B9-9A8E-52606B2F0D8D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Manager Wrapper API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索引｜对上层隐藏 </a:t>
            </a:r>
            <a:r>
              <a:rPr lang="en-US" altLang="zh-CN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细节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DC30E87-BFD2-F4C1-EDFB-4B23BF0A0BA4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958EC91-89BA-34FE-3674-7F128055D819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36FBC4-6E02-57C9-F01B-45BB29029341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45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A9DEDD-3A18-4ED3-2354-EFC04AA07BDA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Wrapper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应成为唯一的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边界，并承担资源、线程和错误语义统一。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0F32850-9004-043A-4E59-E8728C5D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558665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740820217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094102717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684697208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类别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代表接口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当前状态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8522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生命周期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ipad_wrapper_init/deinit/is_initialized/get_version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已实现，状态机需加固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3074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查询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get_eid/get_euicc_info/get_profiles/get_certs/get_eim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7762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fallback/return/emergency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已实现并接入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12289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通知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all/single/remove/remove_all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批量已接入，单条待接线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157857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协议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connect_mqtt/lwm2m/http/stop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封装存在，参数链待完善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03845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Profile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生命周期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download/enable/disable/delete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占位，返回 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eNotImpl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7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2583866-0B45-F2EE-EEC4-7CABCC55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3E97F9-EE52-E411-1A81-702561705449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配置附录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ABD0BD-CFA4-5246-4AE2-2F2643DCD113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配置项应按设备、日志、协议和安全四个域管理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F1C2D9C-4497-B392-4027-3909AA179935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714ADA7-0F36-8ECC-BB14-4A51D73F8D79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D95C81-142E-37EF-D9F1-B02BAD3E39FA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46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6681D5-E55C-2F47-FD87-D1E2434AC4AD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示例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提供默认值；最终有效值必须在启动日志中可追踪但不泄露敏感信息。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47F382A-078F-8580-3DDC-B22EE44EA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525570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63669872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118886219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454144296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域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关键项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校验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03637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设备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串口、波特率、驱动类型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路径存在、权限、连通性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1252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日志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级别、输出位置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可写、轮转、脱敏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312267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MQTT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Broker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、端口、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Client ID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、认证、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TLS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URI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、证书、重连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47769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LwM2M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端点、服务器、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Bootstrap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DTLS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端口、身份、</a:t>
                      </a:r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PSK/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证书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21205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HTTP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URL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、超时、证书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HTTPS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、主机名、对端验证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432787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UI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窗口与显示选项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默认值与范围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874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4EACAEE-DE49-F9E6-E592-70E86BBF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F28C14-F733-3A9D-E746-56559BF10CB7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代码导航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73A69D-63C4-8C30-D302-87BF0ECB14E3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从入口到协议层的代码导航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859B555-E6F1-1474-770A-0E698848891D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6925AC9-38F1-6A9D-B030-E39FCA5F77A0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研发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60B782-1870-BA1E-CA94-85FDDE64F394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47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94F47B-47CD-EE30-D5B2-A73FC9FBDDF9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遇到问题时按调用方向查找，比按目录盲搜更高效。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C7F8970-740E-ABF5-A1E3-811FFF137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962089"/>
              </p:ext>
            </p:extLst>
          </p:nvPr>
        </p:nvGraphicFramePr>
        <p:xfrm>
          <a:off x="685800" y="2159000"/>
          <a:ext cx="108204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541181708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13688466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169257367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问题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首先查看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继续下钻</a:t>
                      </a:r>
                    </a:p>
                  </a:txBody>
                  <a:tcPr>
                    <a:solidFill>
                      <a:srgbClr val="245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8009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接口声明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ipa_sdk_pc/include/ipa.h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typedefs.h / es10_typedefs.h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99399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Wrapper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行为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ipad_wrapper.h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src/sdk_wrapper/ipad_wrapper.c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168230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GUI 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分发</a:t>
                      </a: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src/gui/gui_main.c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app_api_definitions.h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46623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配置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config_manager.c/h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config/ipad_config.example.json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26115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ES10/TLV</a:t>
                      </a:r>
                      <a:endParaRPr lang="zh-CN" altLang="en-US" sz="950" b="1">
                        <a:solidFill>
                          <a:srgbClr val="193DA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profile-assistant-commons/core/gsma/interfaces/es10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tlv generator/extractor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1057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网络</a:t>
                      </a:r>
                      <a:r>
                        <a:rPr lang="en-US" altLang="zh-CN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50" b="1">
                          <a:solidFill>
                            <a:srgbClr val="193DA0"/>
                          </a:solidFill>
                          <a:latin typeface="Microsoft YaHei" panose="020B0503020204020204" pitchFamily="34" charset="-122"/>
                        </a:rPr>
                        <a:t>硬件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profile-assistant-commons/hw/linux</a:t>
                      </a:r>
                      <a:endParaRPr lang="zh-CN" altLang="en-US" sz="950">
                        <a:solidFill>
                          <a:srgbClr val="14171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mqtt/http/lwm2m/AT </a:t>
                      </a:r>
                      <a:r>
                        <a:rPr lang="zh-CN" altLang="en-US" sz="950">
                          <a:solidFill>
                            <a:srgbClr val="14171A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389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89B4D8B-3C19-37E1-F3D8-AA6497C9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187729-38F9-D4E1-4FA2-EB2E82EBFFCE}"/>
              </a:ext>
            </a:extLst>
          </p:cNvPr>
          <p:cNvSpPr txBox="1"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术语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9E45FE-CAA6-D26F-683A-DDCA03E97C92}"/>
              </a:ext>
            </a:extLst>
          </p:cNvPr>
          <p:cNvSpPr txBox="1"/>
          <p:nvPr/>
        </p:nvSpPr>
        <p:spPr>
          <a:xfrm>
            <a:off x="685800" y="660399"/>
            <a:ext cx="10820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14171A"/>
                </a:solidFill>
                <a:latin typeface="Microsoft YaHei" panose="020B0503020204020204" pitchFamily="34" charset="-122"/>
              </a:rPr>
              <a:t>核心术语速查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5F9902-B556-E60A-7644-45D748F6B69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line">
            <a:avLst/>
          </a:prstGeom>
          <a:ln w="1016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1D5A25E-7431-62DF-C165-772141DDB268}"/>
              </a:ext>
            </a:extLst>
          </p:cNvPr>
          <p:cNvSpPr txBox="1"/>
          <p:nvPr/>
        </p:nvSpPr>
        <p:spPr>
          <a:xfrm>
            <a:off x="8509000" y="6400800"/>
            <a:ext cx="2413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CC27B8-63E3-952E-7407-6A4BB884E4BB}"/>
              </a:ext>
            </a:extLst>
          </p:cNvPr>
          <p:cNvSpPr txBox="1"/>
          <p:nvPr/>
        </p:nvSpPr>
        <p:spPr>
          <a:xfrm>
            <a:off x="10998200" y="64008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800" b="1">
                <a:solidFill>
                  <a:srgbClr val="2457D6"/>
                </a:solidFill>
                <a:latin typeface="Microsoft YaHei" panose="020B0503020204020204" pitchFamily="34" charset="-122"/>
              </a:rPr>
              <a:t>48 / 49</a:t>
            </a:r>
            <a:endParaRPr lang="zh-CN" altLang="en-US" sz="8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D013C8-F874-DEC2-EB7E-1DE0175C337F}"/>
              </a:ext>
            </a:extLst>
          </p:cNvPr>
          <p:cNvSpPr txBox="1"/>
          <p:nvPr/>
        </p:nvSpPr>
        <p:spPr>
          <a:xfrm>
            <a:off x="685800" y="15747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对外材料应统一术语，避免把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eIM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eSIPa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SM-DP+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100">
                <a:solidFill>
                  <a:srgbClr val="6B7280"/>
                </a:solidFill>
                <a:latin typeface="Microsoft YaHei" panose="020B0503020204020204" pitchFamily="34" charset="-122"/>
              </a:rPr>
              <a:t>Manager </a:t>
            </a:r>
            <a:r>
              <a:rPr lang="zh-CN" altLang="en-US" sz="1100">
                <a:solidFill>
                  <a:srgbClr val="6B7280"/>
                </a:solidFill>
                <a:latin typeface="Microsoft YaHei" panose="020B0503020204020204" pitchFamily="34" charset="-122"/>
              </a:rPr>
              <a:t>混称为同一组件。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FA9AD57-06EC-89BE-DE53-C04D2C4027A9}"/>
              </a:ext>
            </a:extLst>
          </p:cNvPr>
          <p:cNvSpPr/>
          <p:nvPr/>
        </p:nvSpPr>
        <p:spPr>
          <a:xfrm>
            <a:off x="6858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A22D8D-5EE1-AD7D-561A-6BE187FAEBE4}"/>
              </a:ext>
            </a:extLst>
          </p:cNvPr>
          <p:cNvSpPr/>
          <p:nvPr/>
        </p:nvSpPr>
        <p:spPr>
          <a:xfrm>
            <a:off x="6858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B0A82E-DECE-95D3-4105-8AD0FF202BC2}"/>
              </a:ext>
            </a:extLst>
          </p:cNvPr>
          <p:cNvSpPr txBox="1"/>
          <p:nvPr/>
        </p:nvSpPr>
        <p:spPr>
          <a:xfrm>
            <a:off x="8890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eUICC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DF0CF03-6410-F38D-29EE-F89F093E54F0}"/>
              </a:ext>
            </a:extLst>
          </p:cNvPr>
          <p:cNvSpPr txBox="1"/>
          <p:nvPr/>
        </p:nvSpPr>
        <p:spPr>
          <a:xfrm>
            <a:off x="8890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可远程配置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的嵌入式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UICC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71108D8-61D4-B48A-02F4-B2012589E9F3}"/>
              </a:ext>
            </a:extLst>
          </p:cNvPr>
          <p:cNvSpPr/>
          <p:nvPr/>
        </p:nvSpPr>
        <p:spPr>
          <a:xfrm>
            <a:off x="34290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6C1EC4-2412-5D9B-F479-0FAB6FD07A42}"/>
              </a:ext>
            </a:extLst>
          </p:cNvPr>
          <p:cNvSpPr/>
          <p:nvPr/>
        </p:nvSpPr>
        <p:spPr>
          <a:xfrm>
            <a:off x="34290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F172C1-BEE0-C8E5-94CC-3C7A452DC956}"/>
              </a:ext>
            </a:extLst>
          </p:cNvPr>
          <p:cNvSpPr txBox="1"/>
          <p:nvPr/>
        </p:nvSpPr>
        <p:spPr>
          <a:xfrm>
            <a:off x="36322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Profile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6363ACB7-7902-D9E2-373D-0E6703E7A166}"/>
              </a:ext>
            </a:extLst>
          </p:cNvPr>
          <p:cNvSpPr txBox="1"/>
          <p:nvPr/>
        </p:nvSpPr>
        <p:spPr>
          <a:xfrm>
            <a:off x="36322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运营商订阅及其凭据与策略集合。</a:t>
            </a: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520A56FE-B345-0F2C-820D-DF0348EFEFE2}"/>
              </a:ext>
            </a:extLst>
          </p:cNvPr>
          <p:cNvSpPr/>
          <p:nvPr/>
        </p:nvSpPr>
        <p:spPr>
          <a:xfrm>
            <a:off x="61722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0C173883-AC94-641C-6079-B7DFBBA34D52}"/>
              </a:ext>
            </a:extLst>
          </p:cNvPr>
          <p:cNvSpPr/>
          <p:nvPr/>
        </p:nvSpPr>
        <p:spPr>
          <a:xfrm>
            <a:off x="61722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B62FA555-2ACC-F273-B94A-A0A5F58BC077}"/>
              </a:ext>
            </a:extLst>
          </p:cNvPr>
          <p:cNvSpPr txBox="1"/>
          <p:nvPr/>
        </p:nvSpPr>
        <p:spPr>
          <a:xfrm>
            <a:off x="63754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IPA / IPAd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3D1C6B44-D7E0-2D9A-7984-94B8BF40ACB3}"/>
              </a:ext>
            </a:extLst>
          </p:cNvPr>
          <p:cNvSpPr txBox="1"/>
          <p:nvPr/>
        </p:nvSpPr>
        <p:spPr>
          <a:xfrm>
            <a:off x="63754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IoT Profile Assistant /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本项目桌面管理形态。</a:t>
            </a:r>
          </a:p>
        </p:txBody>
      </p:sp>
      <p:sp>
        <p:nvSpPr>
          <p:cNvPr id="517" name="矩形: 圆角 516">
            <a:extLst>
              <a:ext uri="{FF2B5EF4-FFF2-40B4-BE49-F238E27FC236}">
                <a16:creationId xmlns:a16="http://schemas.microsoft.com/office/drawing/2014/main" id="{123ED336-1414-28A9-FF13-D1667906D16D}"/>
              </a:ext>
            </a:extLst>
          </p:cNvPr>
          <p:cNvSpPr/>
          <p:nvPr/>
        </p:nvSpPr>
        <p:spPr>
          <a:xfrm>
            <a:off x="8915400" y="21844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0D9AB2E0-6D53-4EEE-41DC-AD17DE2A63BE}"/>
              </a:ext>
            </a:extLst>
          </p:cNvPr>
          <p:cNvSpPr/>
          <p:nvPr/>
        </p:nvSpPr>
        <p:spPr>
          <a:xfrm>
            <a:off x="8915400" y="21844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C155E831-D450-7E18-9566-E20D9C03A1B2}"/>
              </a:ext>
            </a:extLst>
          </p:cNvPr>
          <p:cNvSpPr txBox="1"/>
          <p:nvPr/>
        </p:nvSpPr>
        <p:spPr>
          <a:xfrm>
            <a:off x="9118600" y="23621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eIM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777F232B-6946-FAB2-1F07-3593593F9CED}"/>
              </a:ext>
            </a:extLst>
          </p:cNvPr>
          <p:cNvSpPr txBox="1"/>
          <p:nvPr/>
        </p:nvSpPr>
        <p:spPr>
          <a:xfrm>
            <a:off x="9118600" y="27431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eSIM IoT Remote Manager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21" name="矩形: 圆角 520">
            <a:extLst>
              <a:ext uri="{FF2B5EF4-FFF2-40B4-BE49-F238E27FC236}">
                <a16:creationId xmlns:a16="http://schemas.microsoft.com/office/drawing/2014/main" id="{BD2441B3-4BFF-F386-CFC0-B340D94F8D93}"/>
              </a:ext>
            </a:extLst>
          </p:cNvPr>
          <p:cNvSpPr/>
          <p:nvPr/>
        </p:nvSpPr>
        <p:spPr>
          <a:xfrm>
            <a:off x="6858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50C24B1A-4E6D-049E-57B6-2E3334DE5843}"/>
              </a:ext>
            </a:extLst>
          </p:cNvPr>
          <p:cNvSpPr/>
          <p:nvPr/>
        </p:nvSpPr>
        <p:spPr>
          <a:xfrm>
            <a:off x="6858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>
            <a:extLst>
              <a:ext uri="{FF2B5EF4-FFF2-40B4-BE49-F238E27FC236}">
                <a16:creationId xmlns:a16="http://schemas.microsoft.com/office/drawing/2014/main" id="{279F50C6-E6AF-1B88-D5D2-3D14726B6264}"/>
              </a:ext>
            </a:extLst>
          </p:cNvPr>
          <p:cNvSpPr txBox="1"/>
          <p:nvPr/>
        </p:nvSpPr>
        <p:spPr>
          <a:xfrm>
            <a:off x="8890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SM-DP+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532ABA73-BD9B-AA50-40D7-8DFE0352C42B}"/>
              </a:ext>
            </a:extLst>
          </p:cNvPr>
          <p:cNvSpPr txBox="1"/>
          <p:nvPr/>
        </p:nvSpPr>
        <p:spPr>
          <a:xfrm>
            <a:off x="8890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订阅准备与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下载服务。</a:t>
            </a:r>
          </a:p>
        </p:txBody>
      </p:sp>
      <p:sp>
        <p:nvSpPr>
          <p:cNvPr id="525" name="矩形: 圆角 524">
            <a:extLst>
              <a:ext uri="{FF2B5EF4-FFF2-40B4-BE49-F238E27FC236}">
                <a16:creationId xmlns:a16="http://schemas.microsoft.com/office/drawing/2014/main" id="{2CC16DC7-1D44-FD4F-07DF-6B22AC34A622}"/>
              </a:ext>
            </a:extLst>
          </p:cNvPr>
          <p:cNvSpPr/>
          <p:nvPr/>
        </p:nvSpPr>
        <p:spPr>
          <a:xfrm>
            <a:off x="34290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DCBA74D3-C5DA-A2E0-F447-55E5858BCFEB}"/>
              </a:ext>
            </a:extLst>
          </p:cNvPr>
          <p:cNvSpPr/>
          <p:nvPr/>
        </p:nvSpPr>
        <p:spPr>
          <a:xfrm>
            <a:off x="34290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EACCD4A5-0A55-6840-2CD5-17844A19F3FC}"/>
              </a:ext>
            </a:extLst>
          </p:cNvPr>
          <p:cNvSpPr txBox="1"/>
          <p:nvPr/>
        </p:nvSpPr>
        <p:spPr>
          <a:xfrm>
            <a:off x="36322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ES10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9C2B0489-1407-DFAB-A388-246535235B52}"/>
              </a:ext>
            </a:extLst>
          </p:cNvPr>
          <p:cNvSpPr txBox="1"/>
          <p:nvPr/>
        </p:nvSpPr>
        <p:spPr>
          <a:xfrm>
            <a:off x="36322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IPA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eUICC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交互的接口族。</a:t>
            </a:r>
          </a:p>
        </p:txBody>
      </p:sp>
      <p:sp>
        <p:nvSpPr>
          <p:cNvPr id="529" name="矩形: 圆角 528">
            <a:extLst>
              <a:ext uri="{FF2B5EF4-FFF2-40B4-BE49-F238E27FC236}">
                <a16:creationId xmlns:a16="http://schemas.microsoft.com/office/drawing/2014/main" id="{B0DE03C0-7079-C964-412C-1D08C6C97A11}"/>
              </a:ext>
            </a:extLst>
          </p:cNvPr>
          <p:cNvSpPr/>
          <p:nvPr/>
        </p:nvSpPr>
        <p:spPr>
          <a:xfrm>
            <a:off x="61722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D48B5C3B-6C9F-71AE-CE13-C0E7F3AACB2A}"/>
              </a:ext>
            </a:extLst>
          </p:cNvPr>
          <p:cNvSpPr/>
          <p:nvPr/>
        </p:nvSpPr>
        <p:spPr>
          <a:xfrm>
            <a:off x="61722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AB56A9A1-0E19-9CF4-3226-F5CD31D73AA9}"/>
              </a:ext>
            </a:extLst>
          </p:cNvPr>
          <p:cNvSpPr txBox="1"/>
          <p:nvPr/>
        </p:nvSpPr>
        <p:spPr>
          <a:xfrm>
            <a:off x="63754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APDU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7B025A67-0F25-6F59-DBAD-510AB7AD3B80}"/>
              </a:ext>
            </a:extLst>
          </p:cNvPr>
          <p:cNvSpPr txBox="1"/>
          <p:nvPr/>
        </p:nvSpPr>
        <p:spPr>
          <a:xfrm>
            <a:off x="63754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与安全元件通信的命令</a:t>
            </a:r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响应单元。</a:t>
            </a:r>
          </a:p>
        </p:txBody>
      </p:sp>
      <p:sp>
        <p:nvSpPr>
          <p:cNvPr id="535" name="矩形: 圆角 534">
            <a:extLst>
              <a:ext uri="{FF2B5EF4-FFF2-40B4-BE49-F238E27FC236}">
                <a16:creationId xmlns:a16="http://schemas.microsoft.com/office/drawing/2014/main" id="{6F16BD47-9AF1-B8CB-6249-F4E1F97F0CED}"/>
              </a:ext>
            </a:extLst>
          </p:cNvPr>
          <p:cNvSpPr/>
          <p:nvPr/>
        </p:nvSpPr>
        <p:spPr>
          <a:xfrm>
            <a:off x="8915400" y="4229100"/>
            <a:ext cx="2590800" cy="189230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7B833D0D-8F63-6A46-BFD3-FA19486452FB}"/>
              </a:ext>
            </a:extLst>
          </p:cNvPr>
          <p:cNvSpPr/>
          <p:nvPr/>
        </p:nvSpPr>
        <p:spPr>
          <a:xfrm>
            <a:off x="8915400" y="4229100"/>
            <a:ext cx="63500" cy="1892300"/>
          </a:xfrm>
          <a:prstGeom prst="rect">
            <a:avLst/>
          </a:prstGeom>
          <a:solidFill>
            <a:srgbClr val="2457D6"/>
          </a:solidFill>
          <a:ln w="9525">
            <a:solidFill>
              <a:srgbClr val="2457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文本框 536">
            <a:extLst>
              <a:ext uri="{FF2B5EF4-FFF2-40B4-BE49-F238E27FC236}">
                <a16:creationId xmlns:a16="http://schemas.microsoft.com/office/drawing/2014/main" id="{7313BED5-E54C-7695-C61B-7C5148C35A82}"/>
              </a:ext>
            </a:extLst>
          </p:cNvPr>
          <p:cNvSpPr txBox="1"/>
          <p:nvPr/>
        </p:nvSpPr>
        <p:spPr>
          <a:xfrm>
            <a:off x="9118600" y="4406899"/>
            <a:ext cx="2235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457D6"/>
                </a:solidFill>
                <a:latin typeface="Microsoft YaHei" panose="020B0503020204020204" pitchFamily="34" charset="-122"/>
              </a:rPr>
              <a:t>TLV</a:t>
            </a:r>
            <a:endParaRPr lang="zh-CN" altLang="en-US" sz="12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4416D194-6488-6D94-150E-9FC5CB059C8E}"/>
              </a:ext>
            </a:extLst>
          </p:cNvPr>
          <p:cNvSpPr txBox="1"/>
          <p:nvPr/>
        </p:nvSpPr>
        <p:spPr>
          <a:xfrm>
            <a:off x="9118600" y="4787899"/>
            <a:ext cx="22352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14171A"/>
                </a:solidFill>
                <a:latin typeface="Microsoft YaHei" panose="020B0503020204020204" pitchFamily="34" charset="-122"/>
              </a:rPr>
              <a:t>Tag-Length-Value </a:t>
            </a:r>
            <a:r>
              <a:rPr lang="zh-CN" altLang="en-US" sz="900">
                <a:solidFill>
                  <a:srgbClr val="14171A"/>
                </a:solidFill>
                <a:latin typeface="Microsoft YaHei" panose="020B0503020204020204" pitchFamily="34" charset="-122"/>
              </a:rPr>
              <a:t>编码结构。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:a16="http://schemas.microsoft.com/office/drawing/2014/main" id="{AC6F97DD-B8A3-7CA6-303C-3CB7FF53DF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8EE61660-C332-A002-54F3-5F2C04332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4091BF-E346-511B-8658-02E8577B3487}"/>
              </a:ext>
            </a:extLst>
          </p:cNvPr>
          <p:cNvSpPr txBox="1"/>
          <p:nvPr/>
        </p:nvSpPr>
        <p:spPr>
          <a:xfrm>
            <a:off x="685800" y="6604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2457D6"/>
                </a:solidFill>
                <a:latin typeface="Microsoft YaHei" panose="020B0503020204020204" pitchFamily="34" charset="-122"/>
              </a:rPr>
              <a:t>SUMMARY</a:t>
            </a:r>
            <a:endParaRPr lang="zh-CN" altLang="en-US" sz="1000" b="1">
              <a:solidFill>
                <a:srgbClr val="2457D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99E365-D6F6-D97E-DB52-F1A6A2137A55}"/>
              </a:ext>
            </a:extLst>
          </p:cNvPr>
          <p:cNvSpPr txBox="1"/>
          <p:nvPr/>
        </p:nvSpPr>
        <p:spPr>
          <a:xfrm>
            <a:off x="685800" y="1676399"/>
            <a:ext cx="104140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000" b="1">
                <a:solidFill>
                  <a:srgbClr val="2457D6"/>
                </a:solidFill>
                <a:latin typeface="Microsoft YaHei" panose="020B0503020204020204" pitchFamily="34" charset="-122"/>
              </a:rPr>
              <a:t>把能力边界说清楚，是 </a:t>
            </a:r>
            <a:r>
              <a:rPr lang="en-US" altLang="zh-CN" sz="3000" b="1">
                <a:solidFill>
                  <a:srgbClr val="2457D6"/>
                </a:solidFill>
                <a:latin typeface="Microsoft YaHei" panose="020B0503020204020204" pitchFamily="34" charset="-122"/>
              </a:rPr>
              <a:t>IPAd </a:t>
            </a:r>
            <a:r>
              <a:rPr lang="zh-CN" altLang="en-US" sz="3000" b="1">
                <a:solidFill>
                  <a:srgbClr val="2457D6"/>
                </a:solidFill>
                <a:latin typeface="Microsoft YaHei" panose="020B0503020204020204" pitchFamily="34" charset="-122"/>
              </a:rPr>
              <a:t>从工程样机走向可交付产品的第一步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F4A9A0D-7D3D-A2B1-CC7D-1BD530DBAD32}"/>
              </a:ext>
            </a:extLst>
          </p:cNvPr>
          <p:cNvCxnSpPr/>
          <p:nvPr/>
        </p:nvCxnSpPr>
        <p:spPr>
          <a:xfrm>
            <a:off x="685800" y="3403600"/>
            <a:ext cx="10820400" cy="0"/>
          </a:xfrm>
          <a:prstGeom prst="line">
            <a:avLst/>
          </a:prstGeom>
          <a:ln w="15240">
            <a:solidFill>
              <a:srgbClr val="141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59025-59C5-EAFA-F141-E9AD6209CE6B}"/>
              </a:ext>
            </a:extLst>
          </p:cNvPr>
          <p:cNvSpPr txBox="1"/>
          <p:nvPr/>
        </p:nvSpPr>
        <p:spPr>
          <a:xfrm>
            <a:off x="685800" y="3784599"/>
            <a:ext cx="102870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当前仓库已经具备完整技术骨架；下一阶段应优先补齐 </a:t>
            </a:r>
            <a:r>
              <a:rPr lang="en-US" altLang="zh-CN" sz="1600">
                <a:solidFill>
                  <a:srgbClr val="14171A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闭环、</a:t>
            </a:r>
            <a:r>
              <a:rPr lang="en-US" altLang="zh-CN" sz="1600">
                <a:solidFill>
                  <a:srgbClr val="14171A"/>
                </a:solidFill>
                <a:latin typeface="Microsoft YaHei" panose="020B0503020204020204" pitchFamily="34" charset="-122"/>
              </a:rPr>
              <a:t>GUI </a:t>
            </a:r>
            <a:r>
              <a:rPr lang="zh-CN" altLang="en-US" sz="1600">
                <a:solidFill>
                  <a:srgbClr val="14171A"/>
                </a:solidFill>
                <a:latin typeface="Microsoft YaHei" panose="020B0503020204020204" pitchFamily="34" charset="-122"/>
              </a:rPr>
              <a:t>参数链、线程资源治理与生产安全。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C75EA-7A61-24B9-C662-CD797E1E9F51}"/>
              </a:ext>
            </a:extLst>
          </p:cNvPr>
          <p:cNvSpPr txBox="1"/>
          <p:nvPr/>
        </p:nvSpPr>
        <p:spPr>
          <a:xfrm>
            <a:off x="685800" y="57912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6B7280"/>
                </a:solidFill>
                <a:latin typeface="Microsoft YaHei" panose="020B0503020204020204" pitchFamily="34" charset="-122"/>
              </a:rPr>
              <a:t>IPAd SDK &amp; Manager · Architecture / Interfaces / Deployment</a:t>
            </a:r>
            <a:endParaRPr lang="zh-CN" altLang="en-US" sz="900">
              <a:solidFill>
                <a:srgbClr val="6B72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996715-552D-8672-33B4-91CCA0538D42}"/>
              </a:ext>
            </a:extLst>
          </p:cNvPr>
          <p:cNvSpPr txBox="1"/>
          <p:nvPr/>
        </p:nvSpPr>
        <p:spPr>
          <a:xfrm>
            <a:off x="8890000" y="5791200"/>
            <a:ext cx="26162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900" b="1">
                <a:solidFill>
                  <a:srgbClr val="2457D6"/>
                </a:solidFill>
                <a:latin typeface="Microsoft YaHei" panose="020B0503020204020204" pitchFamily="34" charset="-122"/>
              </a:rPr>
              <a:t>管理｜客户｜研发</a:t>
            </a:r>
          </a:p>
        </p:txBody>
      </p:sp>
    </p:spTree>
    <p:extLst>
      <p:ext uri="{BB962C8B-B14F-4D97-AF65-F5344CB8AC3E}">
        <p14:creationId xmlns:p14="http://schemas.microsoft.com/office/powerpoint/2010/main" val="8583554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5020</Words>
  <Application>Microsoft Office PowerPoint</Application>
  <DocSecurity>0</DocSecurity>
  <PresentationFormat>宽屏</PresentationFormat>
  <Paragraphs>925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4" baseType="lpstr">
      <vt:lpstr>Microsoft YaHei</vt:lpstr>
      <vt:lpstr>Roboto</vt:lpstr>
      <vt:lpstr>Lora SemiBold</vt:lpstr>
      <vt:lpstr>Arial</vt:lpstr>
      <vt:lpstr>Default Codex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Zhigao Yan</cp:lastModifiedBy>
  <cp:revision>1</cp:revision>
  <dcterms:created xsi:type="dcterms:W3CDTF">2026-07-18T00:55:29Z</dcterms:created>
  <dcterms:modified xsi:type="dcterms:W3CDTF">2026-07-18T01:05:46Z</dcterms:modified>
</cp:coreProperties>
</file>